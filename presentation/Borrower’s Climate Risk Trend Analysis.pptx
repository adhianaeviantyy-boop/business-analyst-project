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1"/>
  </p:notesMasterIdLst>
  <p:sldIdLst>
    <p:sldId id="257" r:id="rId2"/>
    <p:sldId id="260" r:id="rId3"/>
    <p:sldId id="266" r:id="rId4"/>
    <p:sldId id="259" r:id="rId5"/>
    <p:sldId id="258" r:id="rId6"/>
    <p:sldId id="265" r:id="rId7"/>
    <p:sldId id="262" r:id="rId8"/>
    <p:sldId id="267"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51FE7E-279D-B233-30EE-B35EAC9AC5F1}" name="Aevianty Via" initials="AV" userId="be4abc4ed800b24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8E2F2"/>
    <a:srgbClr val="ACD9E9"/>
    <a:srgbClr val="4174A0"/>
    <a:srgbClr val="153E5E"/>
    <a:srgbClr val="020D1F"/>
    <a:srgbClr val="9BDBF1"/>
    <a:srgbClr val="163F6D"/>
    <a:srgbClr val="27435F"/>
    <a:srgbClr val="13305A"/>
    <a:srgbClr val="1032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F7FAA2-AF48-4D74-9AE3-A82F54E845C5}" v="400" dt="2026-06-05T05:23:38.1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0" autoAdjust="0"/>
    <p:restoredTop sz="93969" autoAdjust="0"/>
  </p:normalViewPr>
  <p:slideViewPr>
    <p:cSldViewPr snapToGrid="0">
      <p:cViewPr varScale="1">
        <p:scale>
          <a:sx n="61" d="100"/>
          <a:sy n="61" d="100"/>
        </p:scale>
        <p:origin x="117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66DDD-D3D7-4D37-8902-12B149753FC8}" type="datetimeFigureOut">
              <a:rPr lang="en-ID" smtClean="0"/>
              <a:t>05/06/2026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1CFCD6-4544-4053-9D72-6F7A554054D3}" type="slidenum">
              <a:rPr lang="en-ID" smtClean="0"/>
              <a:t>‹#›</a:t>
            </a:fld>
            <a:endParaRPr lang="en-ID"/>
          </a:p>
        </p:txBody>
      </p:sp>
    </p:spTree>
    <p:extLst>
      <p:ext uri="{BB962C8B-B14F-4D97-AF65-F5344CB8AC3E}">
        <p14:creationId xmlns:p14="http://schemas.microsoft.com/office/powerpoint/2010/main" val="2511307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F1CFCD6-4544-4053-9D72-6F7A554054D3}" type="slidenum">
              <a:rPr lang="en-ID" smtClean="0"/>
              <a:t>1</a:t>
            </a:fld>
            <a:endParaRPr lang="en-ID"/>
          </a:p>
        </p:txBody>
      </p:sp>
    </p:spTree>
    <p:extLst>
      <p:ext uri="{BB962C8B-B14F-4D97-AF65-F5344CB8AC3E}">
        <p14:creationId xmlns:p14="http://schemas.microsoft.com/office/powerpoint/2010/main" val="4251272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F1CFCD6-4544-4053-9D72-6F7A554054D3}" type="slidenum">
              <a:rPr lang="en-ID" smtClean="0"/>
              <a:t>2</a:t>
            </a:fld>
            <a:endParaRPr lang="en-ID"/>
          </a:p>
        </p:txBody>
      </p:sp>
    </p:spTree>
    <p:extLst>
      <p:ext uri="{BB962C8B-B14F-4D97-AF65-F5344CB8AC3E}">
        <p14:creationId xmlns:p14="http://schemas.microsoft.com/office/powerpoint/2010/main" val="97034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43C72-9AEA-0625-1383-C85D20CD3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D9E5C-E107-D38C-9898-9761C0A76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61C3C-8E81-05C4-91F9-D89772C92DC2}"/>
              </a:ext>
            </a:extLst>
          </p:cNvPr>
          <p:cNvSpPr>
            <a:spLocks noGrp="1"/>
          </p:cNvSpPr>
          <p:nvPr>
            <p:ph type="body" idx="1"/>
          </p:nvPr>
        </p:nvSpPr>
        <p:spPr/>
        <p:txBody>
          <a:bodyPr/>
          <a:lstStyle/>
          <a:p>
            <a:endParaRPr lang="en-ID" dirty="0"/>
          </a:p>
        </p:txBody>
      </p:sp>
      <p:sp>
        <p:nvSpPr>
          <p:cNvPr id="4" name="Slide Number Placeholder 3">
            <a:extLst>
              <a:ext uri="{FF2B5EF4-FFF2-40B4-BE49-F238E27FC236}">
                <a16:creationId xmlns:a16="http://schemas.microsoft.com/office/drawing/2014/main" id="{DD9C063F-E768-96E5-0C62-FFA4601E9F09}"/>
              </a:ext>
            </a:extLst>
          </p:cNvPr>
          <p:cNvSpPr>
            <a:spLocks noGrp="1"/>
          </p:cNvSpPr>
          <p:nvPr>
            <p:ph type="sldNum" sz="quarter" idx="5"/>
          </p:nvPr>
        </p:nvSpPr>
        <p:spPr/>
        <p:txBody>
          <a:bodyPr/>
          <a:lstStyle/>
          <a:p>
            <a:fld id="{7F1CFCD6-4544-4053-9D72-6F7A554054D3}" type="slidenum">
              <a:rPr lang="en-ID" smtClean="0"/>
              <a:t>3</a:t>
            </a:fld>
            <a:endParaRPr lang="en-ID"/>
          </a:p>
        </p:txBody>
      </p:sp>
    </p:spTree>
    <p:extLst>
      <p:ext uri="{BB962C8B-B14F-4D97-AF65-F5344CB8AC3E}">
        <p14:creationId xmlns:p14="http://schemas.microsoft.com/office/powerpoint/2010/main" val="2119024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F1CFCD6-4544-4053-9D72-6F7A554054D3}" type="slidenum">
              <a:rPr lang="en-ID" smtClean="0"/>
              <a:t>4</a:t>
            </a:fld>
            <a:endParaRPr lang="en-ID"/>
          </a:p>
        </p:txBody>
      </p:sp>
    </p:spTree>
    <p:extLst>
      <p:ext uri="{BB962C8B-B14F-4D97-AF65-F5344CB8AC3E}">
        <p14:creationId xmlns:p14="http://schemas.microsoft.com/office/powerpoint/2010/main" val="1191780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F1CFCD6-4544-4053-9D72-6F7A554054D3}" type="slidenum">
              <a:rPr lang="en-ID" smtClean="0"/>
              <a:t>5</a:t>
            </a:fld>
            <a:endParaRPr lang="en-ID"/>
          </a:p>
        </p:txBody>
      </p:sp>
    </p:spTree>
    <p:extLst>
      <p:ext uri="{BB962C8B-B14F-4D97-AF65-F5344CB8AC3E}">
        <p14:creationId xmlns:p14="http://schemas.microsoft.com/office/powerpoint/2010/main" val="226065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389D5-8813-D11C-BB60-A4A4E9AAA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FC249-0BC7-AA94-905C-CB24DE8F1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A9F9E-A013-9826-526C-0EE722CD702B}"/>
              </a:ext>
            </a:extLst>
          </p:cNvPr>
          <p:cNvSpPr>
            <a:spLocks noGrp="1"/>
          </p:cNvSpPr>
          <p:nvPr>
            <p:ph type="body" idx="1"/>
          </p:nvPr>
        </p:nvSpPr>
        <p:spPr/>
        <p:txBody>
          <a:bodyPr/>
          <a:lstStyle/>
          <a:p>
            <a:endParaRPr lang="en-ID" dirty="0"/>
          </a:p>
        </p:txBody>
      </p:sp>
      <p:sp>
        <p:nvSpPr>
          <p:cNvPr id="4" name="Slide Number Placeholder 3">
            <a:extLst>
              <a:ext uri="{FF2B5EF4-FFF2-40B4-BE49-F238E27FC236}">
                <a16:creationId xmlns:a16="http://schemas.microsoft.com/office/drawing/2014/main" id="{E72441B8-8051-6509-AA4A-EB3A64CE4CCC}"/>
              </a:ext>
            </a:extLst>
          </p:cNvPr>
          <p:cNvSpPr>
            <a:spLocks noGrp="1"/>
          </p:cNvSpPr>
          <p:nvPr>
            <p:ph type="sldNum" sz="quarter" idx="5"/>
          </p:nvPr>
        </p:nvSpPr>
        <p:spPr/>
        <p:txBody>
          <a:bodyPr/>
          <a:lstStyle/>
          <a:p>
            <a:fld id="{7F1CFCD6-4544-4053-9D72-6F7A554054D3}" type="slidenum">
              <a:rPr lang="en-ID" smtClean="0"/>
              <a:t>6</a:t>
            </a:fld>
            <a:endParaRPr lang="en-ID"/>
          </a:p>
        </p:txBody>
      </p:sp>
    </p:spTree>
    <p:extLst>
      <p:ext uri="{BB962C8B-B14F-4D97-AF65-F5344CB8AC3E}">
        <p14:creationId xmlns:p14="http://schemas.microsoft.com/office/powerpoint/2010/main" val="1601539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1E3473-F15F-4AF8-A5A8-88E8519B35DF}" type="datetimeFigureOut">
              <a:rPr lang="en-ID" smtClean="0"/>
              <a:t>05/06/2026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3605263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E3473-F15F-4AF8-A5A8-88E8519B35DF}" type="datetimeFigureOut">
              <a:rPr lang="en-ID" smtClean="0"/>
              <a:t>05/06/2026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156035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E3473-F15F-4AF8-A5A8-88E8519B35DF}" type="datetimeFigureOut">
              <a:rPr lang="en-ID" smtClean="0"/>
              <a:t>05/06/2026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3159726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1E3473-F15F-4AF8-A5A8-88E8519B35DF}" type="datetimeFigureOut">
              <a:rPr lang="en-ID" smtClean="0"/>
              <a:t>05/06/2026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189461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1E3473-F15F-4AF8-A5A8-88E8519B35DF}" type="datetimeFigureOut">
              <a:rPr lang="en-ID" smtClean="0"/>
              <a:t>05/06/2026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3024310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1E3473-F15F-4AF8-A5A8-88E8519B35DF}" type="datetimeFigureOut">
              <a:rPr lang="en-ID" smtClean="0"/>
              <a:t>05/06/2026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392490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1E3473-F15F-4AF8-A5A8-88E8519B35DF}" type="datetimeFigureOut">
              <a:rPr lang="en-ID" smtClean="0"/>
              <a:t>05/06/2026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2292235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1E3473-F15F-4AF8-A5A8-88E8519B35DF}" type="datetimeFigureOut">
              <a:rPr lang="en-ID" smtClean="0"/>
              <a:t>05/06/2026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3611424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1E3473-F15F-4AF8-A5A8-88E8519B35DF}" type="datetimeFigureOut">
              <a:rPr lang="en-ID" smtClean="0"/>
              <a:t>05/06/2026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587875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E3473-F15F-4AF8-A5A8-88E8519B35DF}" type="datetimeFigureOut">
              <a:rPr lang="en-ID" smtClean="0"/>
              <a:t>05/06/2026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4145582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E3473-F15F-4AF8-A5A8-88E8519B35DF}" type="datetimeFigureOut">
              <a:rPr lang="en-ID" smtClean="0"/>
              <a:t>05/06/2026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1739BD3-BA10-4B1E-8537-08ECB310D3AF}" type="slidenum">
              <a:rPr lang="en-ID" smtClean="0"/>
              <a:t>‹#›</a:t>
            </a:fld>
            <a:endParaRPr lang="en-ID"/>
          </a:p>
        </p:txBody>
      </p:sp>
    </p:spTree>
    <p:extLst>
      <p:ext uri="{BB962C8B-B14F-4D97-AF65-F5344CB8AC3E}">
        <p14:creationId xmlns:p14="http://schemas.microsoft.com/office/powerpoint/2010/main" val="2953799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1E3473-F15F-4AF8-A5A8-88E8519B35DF}" type="datetimeFigureOut">
              <a:rPr lang="en-ID" smtClean="0"/>
              <a:t>05/06/2026</a:t>
            </a:fld>
            <a:endParaRPr lang="en-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739BD3-BA10-4B1E-8537-08ECB310D3AF}" type="slidenum">
              <a:rPr lang="en-ID" smtClean="0"/>
              <a:t>‹#›</a:t>
            </a:fld>
            <a:endParaRPr lang="en-ID"/>
          </a:p>
        </p:txBody>
      </p:sp>
    </p:spTree>
    <p:extLst>
      <p:ext uri="{BB962C8B-B14F-4D97-AF65-F5344CB8AC3E}">
        <p14:creationId xmlns:p14="http://schemas.microsoft.com/office/powerpoint/2010/main" val="1422290719"/>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png"/><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5.wdp"/></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4" Type="http://schemas.microsoft.com/office/2007/relationships/hdphoto" Target="../media/hdphoto6.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D1F"/>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35C9F9D-2446-7457-7E86-70321CDE3C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4350" y="0"/>
            <a:ext cx="12192000" cy="6858001"/>
          </a:xfrm>
          <a:prstGeom prst="rect">
            <a:avLst/>
          </a:prstGeom>
        </p:spPr>
      </p:pic>
      <p:sp>
        <p:nvSpPr>
          <p:cNvPr id="6" name="Rectangle 5">
            <a:extLst>
              <a:ext uri="{FF2B5EF4-FFF2-40B4-BE49-F238E27FC236}">
                <a16:creationId xmlns:a16="http://schemas.microsoft.com/office/drawing/2014/main" id="{84D5CC14-F475-AE50-725A-7CDAC5EE40C2}"/>
              </a:ext>
            </a:extLst>
          </p:cNvPr>
          <p:cNvSpPr/>
          <p:nvPr/>
        </p:nvSpPr>
        <p:spPr>
          <a:xfrm>
            <a:off x="457200" y="19050"/>
            <a:ext cx="9467850" cy="6858000"/>
          </a:xfrm>
          <a:prstGeom prst="rect">
            <a:avLst/>
          </a:prstGeom>
          <a:gradFill flip="none" rotWithShape="1">
            <a:gsLst>
              <a:gs pos="20000">
                <a:srgbClr val="020D1F"/>
              </a:gs>
              <a:gs pos="52000">
                <a:srgbClr val="050E29">
                  <a:alpha val="0"/>
                </a:srgbClr>
              </a:gs>
              <a:gs pos="34000">
                <a:srgbClr val="020D1F">
                  <a:alpha val="77000"/>
                </a:srgbClr>
              </a:gs>
              <a:gs pos="100000">
                <a:srgbClr val="0F1245">
                  <a:alpha val="100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055CF795-1252-44EB-D7E9-8FFCEF03F9D6}"/>
              </a:ext>
            </a:extLst>
          </p:cNvPr>
          <p:cNvSpPr>
            <a:spLocks noGrp="1"/>
          </p:cNvSpPr>
          <p:nvPr>
            <p:ph type="title"/>
          </p:nvPr>
        </p:nvSpPr>
        <p:spPr>
          <a:xfrm>
            <a:off x="695325" y="2037089"/>
            <a:ext cx="5886450" cy="1325563"/>
          </a:xfrm>
        </p:spPr>
        <p:txBody>
          <a:bodyPr>
            <a:noAutofit/>
          </a:bodyPr>
          <a:lstStyle/>
          <a:p>
            <a:r>
              <a:rPr lang="en-US" sz="6000" b="1" dirty="0">
                <a:ln w="38100">
                  <a:solidFill>
                    <a:schemeClr val="tx1"/>
                  </a:solidFill>
                </a:ln>
                <a:latin typeface="Grandview Display" panose="020B0502040204020203" pitchFamily="34" charset="0"/>
              </a:rPr>
              <a:t>Borrower’s</a:t>
            </a:r>
            <a:r>
              <a:rPr lang="en-US" sz="6000" b="1" dirty="0">
                <a:ln w="38100">
                  <a:solidFill>
                    <a:schemeClr val="tx1"/>
                  </a:solidFill>
                </a:ln>
                <a:latin typeface="Avenir Next LT Pro Light" panose="020B0304020202020204" pitchFamily="34" charset="0"/>
              </a:rPr>
              <a:t> Climate Risk Trend Analysis</a:t>
            </a:r>
            <a:endParaRPr lang="en-ID" sz="6000" b="1" dirty="0">
              <a:ln w="38100">
                <a:solidFill>
                  <a:schemeClr val="tx1"/>
                </a:solidFill>
              </a:ln>
              <a:latin typeface="Avenir Next LT Pro Light" panose="020B0304020202020204" pitchFamily="34" charset="0"/>
            </a:endParaRPr>
          </a:p>
        </p:txBody>
      </p:sp>
      <p:sp>
        <p:nvSpPr>
          <p:cNvPr id="16" name="Title 1">
            <a:extLst>
              <a:ext uri="{FF2B5EF4-FFF2-40B4-BE49-F238E27FC236}">
                <a16:creationId xmlns:a16="http://schemas.microsoft.com/office/drawing/2014/main" id="{7E021547-8180-093F-BE39-1E3AFFD2AD61}"/>
              </a:ext>
            </a:extLst>
          </p:cNvPr>
          <p:cNvSpPr txBox="1">
            <a:spLocks/>
          </p:cNvSpPr>
          <p:nvPr/>
        </p:nvSpPr>
        <p:spPr>
          <a:xfrm>
            <a:off x="895350" y="3852586"/>
            <a:ext cx="6172200" cy="6635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a:latin typeface="Avenir Next LT Pro Light" panose="020B0304020202020204" pitchFamily="34" charset="0"/>
              </a:rPr>
              <a:t>Towards sustainable future and effective operation</a:t>
            </a:r>
            <a:endParaRPr lang="en-ID" sz="1600" dirty="0">
              <a:latin typeface="Avenir Next LT Pro Light" panose="020B0304020202020204" pitchFamily="34" charset="0"/>
            </a:endParaRPr>
          </a:p>
        </p:txBody>
      </p:sp>
      <p:sp>
        <p:nvSpPr>
          <p:cNvPr id="19" name="Rectangle: Rounded Corners 18">
            <a:extLst>
              <a:ext uri="{FF2B5EF4-FFF2-40B4-BE49-F238E27FC236}">
                <a16:creationId xmlns:a16="http://schemas.microsoft.com/office/drawing/2014/main" id="{694B9253-77B9-A0A5-5ACA-3FDB41EF7D08}"/>
              </a:ext>
            </a:extLst>
          </p:cNvPr>
          <p:cNvSpPr/>
          <p:nvPr/>
        </p:nvSpPr>
        <p:spPr>
          <a:xfrm>
            <a:off x="895350" y="4615446"/>
            <a:ext cx="2914650" cy="765245"/>
          </a:xfrm>
          <a:prstGeom prst="roundRect">
            <a:avLst/>
          </a:prstGeom>
          <a:blipFill dpi="0" rotWithShape="1">
            <a:blip r:embed="rId4">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50000"/>
              </a:lnSpc>
            </a:pPr>
            <a:r>
              <a:rPr lang="en-US" sz="1200" dirty="0"/>
              <a:t>Presentation content and design by: </a:t>
            </a:r>
          </a:p>
          <a:p>
            <a:pPr algn="ctr">
              <a:lnSpc>
                <a:spcPct val="150000"/>
              </a:lnSpc>
            </a:pPr>
            <a:r>
              <a:rPr lang="en-US" sz="1200" dirty="0" err="1"/>
              <a:t>Adhiana</a:t>
            </a:r>
            <a:r>
              <a:rPr lang="en-US" sz="1200" dirty="0"/>
              <a:t> </a:t>
            </a:r>
            <a:r>
              <a:rPr lang="en-US" sz="1200" dirty="0" err="1"/>
              <a:t>Elti</a:t>
            </a:r>
            <a:r>
              <a:rPr lang="en-US" sz="1200" dirty="0"/>
              <a:t> </a:t>
            </a:r>
            <a:r>
              <a:rPr lang="en-US" sz="1200" dirty="0" err="1"/>
              <a:t>Evianty</a:t>
            </a:r>
            <a:r>
              <a:rPr lang="en-US" sz="1200" dirty="0"/>
              <a:t> </a:t>
            </a:r>
            <a:endParaRPr lang="en-ID" sz="1200" dirty="0"/>
          </a:p>
        </p:txBody>
      </p:sp>
    </p:spTree>
    <p:extLst>
      <p:ext uri="{BB962C8B-B14F-4D97-AF65-F5344CB8AC3E}">
        <p14:creationId xmlns:p14="http://schemas.microsoft.com/office/powerpoint/2010/main" val="84081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5000">
              <a:srgbClr val="020D1F"/>
            </a:gs>
            <a:gs pos="80000">
              <a:srgbClr val="020D1F"/>
            </a:gs>
            <a:gs pos="53000">
              <a:srgbClr val="1A3860"/>
            </a:gs>
            <a:gs pos="66000">
              <a:srgbClr val="10233C"/>
            </a:gs>
            <a:gs pos="45000">
              <a:srgbClr val="122641"/>
            </a:gs>
          </a:gsLst>
          <a:path path="circle">
            <a:fillToRect l="100000" b="100000"/>
          </a:path>
          <a:tileRect t="-100000" r="-100000"/>
        </a:gradFill>
        <a:effectLst/>
      </p:bgPr>
    </p:bg>
    <p:spTree>
      <p:nvGrpSpPr>
        <p:cNvPr id="1" name="">
          <a:extLst>
            <a:ext uri="{FF2B5EF4-FFF2-40B4-BE49-F238E27FC236}">
              <a16:creationId xmlns:a16="http://schemas.microsoft.com/office/drawing/2014/main" id="{89D473AA-B0CC-F6E2-CEDB-22B758043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1A632-E5DE-6A7E-A428-278094A42E75}"/>
              </a:ext>
            </a:extLst>
          </p:cNvPr>
          <p:cNvSpPr>
            <a:spLocks noGrp="1"/>
          </p:cNvSpPr>
          <p:nvPr>
            <p:ph type="title"/>
          </p:nvPr>
        </p:nvSpPr>
        <p:spPr>
          <a:xfrm>
            <a:off x="1993682" y="741536"/>
            <a:ext cx="3492718" cy="1083400"/>
          </a:xfrm>
        </p:spPr>
        <p:txBody>
          <a:bodyPr>
            <a:normAutofit/>
          </a:bodyPr>
          <a:lstStyle/>
          <a:p>
            <a:r>
              <a:rPr lang="en-US" sz="3200" b="1" dirty="0"/>
              <a:t>Background</a:t>
            </a:r>
            <a:endParaRPr lang="en-ID" sz="3200" b="1" dirty="0"/>
          </a:p>
        </p:txBody>
      </p:sp>
      <p:pic>
        <p:nvPicPr>
          <p:cNvPr id="7" name="Picture 6">
            <a:extLst>
              <a:ext uri="{FF2B5EF4-FFF2-40B4-BE49-F238E27FC236}">
                <a16:creationId xmlns:a16="http://schemas.microsoft.com/office/drawing/2014/main" id="{A659E8C2-E5F9-E94B-EE9F-A16ECA23BD5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p:blipFill>
        <p:spPr>
          <a:xfrm>
            <a:off x="1008992" y="841517"/>
            <a:ext cx="742293" cy="742293"/>
          </a:xfrm>
          <a:prstGeom prst="rect">
            <a:avLst/>
          </a:prstGeom>
          <a:effectLst>
            <a:glow rad="139700">
              <a:srgbClr val="2C7AAA">
                <a:alpha val="45000"/>
              </a:srgbClr>
            </a:glow>
          </a:effectLst>
        </p:spPr>
      </p:pic>
      <p:sp>
        <p:nvSpPr>
          <p:cNvPr id="4" name="Rectangle: Rounded Corners 3">
            <a:extLst>
              <a:ext uri="{FF2B5EF4-FFF2-40B4-BE49-F238E27FC236}">
                <a16:creationId xmlns:a16="http://schemas.microsoft.com/office/drawing/2014/main" id="{10DC20E9-9572-223F-A331-C5C912A3FCC9}"/>
              </a:ext>
            </a:extLst>
          </p:cNvPr>
          <p:cNvSpPr/>
          <p:nvPr/>
        </p:nvSpPr>
        <p:spPr>
          <a:xfrm>
            <a:off x="1473649" y="2059188"/>
            <a:ext cx="9244702" cy="3331962"/>
          </a:xfrm>
          <a:prstGeom prst="roundRect">
            <a:avLst/>
          </a:prstGeom>
          <a:blipFill dpi="0" rotWithShape="1">
            <a:blip r:embed="rId5">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ctr">
            <a:noAutofit/>
          </a:bodyPr>
          <a:lstStyle/>
          <a:p>
            <a:r>
              <a:rPr lang="en-US" sz="1600" dirty="0"/>
              <a:t>In 2024, the Financial Services Authority (OJK) announced the requirement for all banks to factor climate risk, such as carbon emissions, into lending decisions by 2026. This was intended to align Indonesia’s financial activity with ESG-oriented financial practices. Adding to the green transition and implementation trend in the banking industry.</a:t>
            </a:r>
          </a:p>
          <a:p>
            <a:endParaRPr lang="en-US" sz="1600" dirty="0"/>
          </a:p>
          <a:p>
            <a:r>
              <a:rPr lang="en-US" sz="1600" dirty="0"/>
              <a:t>By the upcoming year. The green transition is expected to become stricter with more regulations and ESG demand from society. Leading ESG practices to become the core driver for operational and financial decision across industries.</a:t>
            </a:r>
          </a:p>
        </p:txBody>
      </p:sp>
    </p:spTree>
    <p:extLst>
      <p:ext uri="{BB962C8B-B14F-4D97-AF65-F5344CB8AC3E}">
        <p14:creationId xmlns:p14="http://schemas.microsoft.com/office/powerpoint/2010/main" val="709806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8000">
              <a:srgbClr val="020D1F"/>
            </a:gs>
            <a:gs pos="80000">
              <a:srgbClr val="020D1F"/>
            </a:gs>
            <a:gs pos="53000">
              <a:srgbClr val="1A3860"/>
            </a:gs>
            <a:gs pos="66000">
              <a:srgbClr val="10233C"/>
            </a:gs>
            <a:gs pos="45000">
              <a:srgbClr val="122641"/>
            </a:gs>
          </a:gsLst>
          <a:path path="shape">
            <a:fillToRect l="50000" t="50000" r="50000" b="50000"/>
          </a:path>
          <a:tileRect/>
        </a:gradFill>
        <a:effectLst/>
      </p:bgPr>
    </p:bg>
    <p:spTree>
      <p:nvGrpSpPr>
        <p:cNvPr id="1" name="">
          <a:extLst>
            <a:ext uri="{FF2B5EF4-FFF2-40B4-BE49-F238E27FC236}">
              <a16:creationId xmlns:a16="http://schemas.microsoft.com/office/drawing/2014/main" id="{34B8E592-35F6-5F40-F7D3-041EEEED269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63C2AA3-BADA-5AA4-AA1B-B8C08783AEA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1008992" y="841517"/>
            <a:ext cx="742293" cy="742293"/>
          </a:xfrm>
          <a:prstGeom prst="rect">
            <a:avLst/>
          </a:prstGeom>
          <a:effectLst>
            <a:glow rad="139700">
              <a:srgbClr val="2C7AAA">
                <a:alpha val="45000"/>
              </a:srgbClr>
            </a:glow>
          </a:effectLst>
        </p:spPr>
      </p:pic>
      <p:sp>
        <p:nvSpPr>
          <p:cNvPr id="6" name="Title 1">
            <a:extLst>
              <a:ext uri="{FF2B5EF4-FFF2-40B4-BE49-F238E27FC236}">
                <a16:creationId xmlns:a16="http://schemas.microsoft.com/office/drawing/2014/main" id="{C4490B35-0930-7C38-DC9C-0E3C48316957}"/>
              </a:ext>
            </a:extLst>
          </p:cNvPr>
          <p:cNvSpPr>
            <a:spLocks noGrp="1"/>
          </p:cNvSpPr>
          <p:nvPr>
            <p:ph type="title"/>
          </p:nvPr>
        </p:nvSpPr>
        <p:spPr>
          <a:xfrm>
            <a:off x="1993681" y="893936"/>
            <a:ext cx="5365061" cy="1083400"/>
          </a:xfrm>
        </p:spPr>
        <p:txBody>
          <a:bodyPr>
            <a:normAutofit/>
          </a:bodyPr>
          <a:lstStyle/>
          <a:p>
            <a:r>
              <a:rPr lang="en-US" sz="3200" b="1" dirty="0"/>
              <a:t>Business Impact</a:t>
            </a:r>
            <a:endParaRPr lang="en-ID" sz="3200" b="1" dirty="0"/>
          </a:p>
        </p:txBody>
      </p:sp>
      <p:sp>
        <p:nvSpPr>
          <p:cNvPr id="9" name="Rectangle: Rounded Corners 8">
            <a:extLst>
              <a:ext uri="{FF2B5EF4-FFF2-40B4-BE49-F238E27FC236}">
                <a16:creationId xmlns:a16="http://schemas.microsoft.com/office/drawing/2014/main" id="{200E9C27-97DB-7334-F9EE-17678D8F04DD}"/>
              </a:ext>
            </a:extLst>
          </p:cNvPr>
          <p:cNvSpPr/>
          <p:nvPr/>
        </p:nvSpPr>
        <p:spPr>
          <a:xfrm>
            <a:off x="1380138" y="2209800"/>
            <a:ext cx="9009338" cy="3224048"/>
          </a:xfrm>
          <a:prstGeom prst="roundRect">
            <a:avLst/>
          </a:prstGeom>
          <a:blipFill dpi="0" rotWithShape="1">
            <a:blip r:embed="rId5">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ctr">
            <a:noAutofit/>
          </a:bodyPr>
          <a:lstStyle/>
          <a:p>
            <a:r>
              <a:rPr lang="en-US" sz="1600" dirty="0"/>
              <a:t>Failure to integrate climate-risk lending assessment may expose banks to risks such as:</a:t>
            </a:r>
          </a:p>
          <a:p>
            <a:pPr marL="536575" lvl="1" indent="-268288">
              <a:buFont typeface="+mj-lt"/>
              <a:buAutoNum type="arabicPeriod"/>
            </a:pPr>
            <a:r>
              <a:rPr lang="en-US" sz="1600" dirty="0"/>
              <a:t>Regulatory penalty risk</a:t>
            </a:r>
          </a:p>
          <a:p>
            <a:pPr marL="536575" lvl="1" indent="-268288">
              <a:buFont typeface="+mj-lt"/>
              <a:buAutoNum type="arabicPeriod"/>
            </a:pPr>
            <a:r>
              <a:rPr lang="en-US" sz="1600" dirty="0"/>
              <a:t>Reputational Damage</a:t>
            </a:r>
          </a:p>
          <a:p>
            <a:pPr marL="536575" lvl="1" indent="-268288">
              <a:buFont typeface="+mj-lt"/>
              <a:buAutoNum type="arabicPeriod"/>
            </a:pPr>
            <a:r>
              <a:rPr lang="en-US" sz="1600" dirty="0"/>
              <a:t>Long-term portfolio instability</a:t>
            </a:r>
          </a:p>
          <a:p>
            <a:endParaRPr lang="en-US" sz="1600" dirty="0"/>
          </a:p>
          <a:p>
            <a:r>
              <a:rPr lang="en-US" sz="1600" dirty="0"/>
              <a:t>Hence why, integrating ESG can become an effective risk management strategy to increase overall brand image, stakeholders’ confidence, sustainable portfolio quality, and profitability in the long term.</a:t>
            </a:r>
          </a:p>
        </p:txBody>
      </p:sp>
    </p:spTree>
    <p:extLst>
      <p:ext uri="{BB962C8B-B14F-4D97-AF65-F5344CB8AC3E}">
        <p14:creationId xmlns:p14="http://schemas.microsoft.com/office/powerpoint/2010/main" val="3184479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D1F"/>
        </a:solidFill>
        <a:effectLst/>
      </p:bgPr>
    </p:bg>
    <p:spTree>
      <p:nvGrpSpPr>
        <p:cNvPr id="1" name="">
          <a:extLst>
            <a:ext uri="{FF2B5EF4-FFF2-40B4-BE49-F238E27FC236}">
              <a16:creationId xmlns:a16="http://schemas.microsoft.com/office/drawing/2014/main" id="{C87FB9D8-DE04-3059-0154-2779473687F8}"/>
            </a:ext>
          </a:extLst>
        </p:cNvPr>
        <p:cNvGrpSpPr/>
        <p:nvPr/>
      </p:nvGrpSpPr>
      <p:grpSpPr>
        <a:xfrm>
          <a:off x="0" y="0"/>
          <a:ext cx="0" cy="0"/>
          <a:chOff x="0" y="0"/>
          <a:chExt cx="0" cy="0"/>
        </a:xfrm>
      </p:grpSpPr>
      <p:sp>
        <p:nvSpPr>
          <p:cNvPr id="16" name="Oval 15">
            <a:extLst>
              <a:ext uri="{FF2B5EF4-FFF2-40B4-BE49-F238E27FC236}">
                <a16:creationId xmlns:a16="http://schemas.microsoft.com/office/drawing/2014/main" id="{6BE04B10-50F8-6807-1BC7-165683AEDC7E}"/>
              </a:ext>
            </a:extLst>
          </p:cNvPr>
          <p:cNvSpPr/>
          <p:nvPr/>
        </p:nvSpPr>
        <p:spPr>
          <a:xfrm>
            <a:off x="4867275" y="-3084513"/>
            <a:ext cx="11106150" cy="8224837"/>
          </a:xfrm>
          <a:prstGeom prst="ellipse">
            <a:avLst/>
          </a:prstGeom>
          <a:gradFill flip="none" rotWithShape="1">
            <a:gsLst>
              <a:gs pos="44000">
                <a:srgbClr val="163F6D">
                  <a:alpha val="34000"/>
                </a:srgbClr>
              </a:gs>
              <a:gs pos="0">
                <a:srgbClr val="A0D7E5"/>
              </a:gs>
              <a:gs pos="63000">
                <a:srgbClr val="020D1F">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4" name="Oval 3">
            <a:extLst>
              <a:ext uri="{FF2B5EF4-FFF2-40B4-BE49-F238E27FC236}">
                <a16:creationId xmlns:a16="http://schemas.microsoft.com/office/drawing/2014/main" id="{A2EE8CEE-9F01-40EA-BDAE-944BEF6D2FB2}"/>
              </a:ext>
            </a:extLst>
          </p:cNvPr>
          <p:cNvSpPr/>
          <p:nvPr/>
        </p:nvSpPr>
        <p:spPr>
          <a:xfrm>
            <a:off x="-4400550" y="3746897"/>
            <a:ext cx="11106150" cy="8224837"/>
          </a:xfrm>
          <a:prstGeom prst="ellipse">
            <a:avLst/>
          </a:prstGeom>
          <a:gradFill flip="none" rotWithShape="1">
            <a:gsLst>
              <a:gs pos="0">
                <a:srgbClr val="A0D7E5"/>
              </a:gs>
              <a:gs pos="63000">
                <a:srgbClr val="020D1F">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itle 1">
            <a:extLst>
              <a:ext uri="{FF2B5EF4-FFF2-40B4-BE49-F238E27FC236}">
                <a16:creationId xmlns:a16="http://schemas.microsoft.com/office/drawing/2014/main" id="{1CC65E9D-7606-A51E-F6DC-8B81B5E65910}"/>
              </a:ext>
            </a:extLst>
          </p:cNvPr>
          <p:cNvSpPr>
            <a:spLocks noGrp="1"/>
          </p:cNvSpPr>
          <p:nvPr>
            <p:ph type="title"/>
          </p:nvPr>
        </p:nvSpPr>
        <p:spPr>
          <a:xfrm>
            <a:off x="1905898" y="505197"/>
            <a:ext cx="6629400" cy="1325563"/>
          </a:xfrm>
        </p:spPr>
        <p:txBody>
          <a:bodyPr>
            <a:normAutofit/>
          </a:bodyPr>
          <a:lstStyle/>
          <a:p>
            <a:r>
              <a:rPr lang="en-US" sz="3200" b="1" dirty="0"/>
              <a:t>Current Challenges</a:t>
            </a:r>
            <a:endParaRPr lang="en-ID" sz="3200" b="1" dirty="0"/>
          </a:p>
        </p:txBody>
      </p:sp>
      <p:sp>
        <p:nvSpPr>
          <p:cNvPr id="3" name="Content Placeholder 2">
            <a:extLst>
              <a:ext uri="{FF2B5EF4-FFF2-40B4-BE49-F238E27FC236}">
                <a16:creationId xmlns:a16="http://schemas.microsoft.com/office/drawing/2014/main" id="{DA214F24-66AD-6DF9-D4BF-3115A10BCD7A}"/>
              </a:ext>
            </a:extLst>
          </p:cNvPr>
          <p:cNvSpPr>
            <a:spLocks noGrp="1"/>
          </p:cNvSpPr>
          <p:nvPr>
            <p:ph idx="1"/>
          </p:nvPr>
        </p:nvSpPr>
        <p:spPr>
          <a:xfrm>
            <a:off x="838200" y="1914523"/>
            <a:ext cx="9244702" cy="946373"/>
          </a:xfrm>
        </p:spPr>
        <p:txBody>
          <a:bodyPr>
            <a:normAutofit lnSpcReduction="10000"/>
          </a:bodyPr>
          <a:lstStyle/>
          <a:p>
            <a:pPr marL="0" indent="0">
              <a:buNone/>
            </a:pPr>
            <a:r>
              <a:rPr lang="en-ID" sz="1600" dirty="0"/>
              <a:t>The banking industry is still newly adjusting with the implementation of green transition to its lending decisions. Some of the biggest banks have already adapted their lending systems to keep pace with ESG trends and regulations. </a:t>
            </a:r>
            <a:r>
              <a:rPr lang="en-US" sz="1600" dirty="0"/>
              <a:t>Yet, the biggest challenges still remain:</a:t>
            </a:r>
          </a:p>
        </p:txBody>
      </p:sp>
      <p:sp>
        <p:nvSpPr>
          <p:cNvPr id="7" name="Rectangle: Rounded Corners 6">
            <a:extLst>
              <a:ext uri="{FF2B5EF4-FFF2-40B4-BE49-F238E27FC236}">
                <a16:creationId xmlns:a16="http://schemas.microsoft.com/office/drawing/2014/main" id="{BA7FCEAD-6D9D-8EB2-33A1-05A6C944BF42}"/>
              </a:ext>
            </a:extLst>
          </p:cNvPr>
          <p:cNvSpPr/>
          <p:nvPr/>
        </p:nvSpPr>
        <p:spPr>
          <a:xfrm>
            <a:off x="838200" y="3065581"/>
            <a:ext cx="10511971" cy="2581508"/>
          </a:xfrm>
          <a:prstGeom prst="roundRect">
            <a:avLst/>
          </a:prstGeom>
          <a:blipFill dpi="0" rotWithShape="1">
            <a:blip r:embed="rId3">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ctr">
            <a:spAutoFit/>
          </a:bodyPr>
          <a:lstStyle/>
          <a:p>
            <a:pPr marL="342900" indent="-342900">
              <a:buFont typeface="+mj-lt"/>
              <a:buAutoNum type="arabicPeriod"/>
            </a:pPr>
            <a:r>
              <a:rPr lang="en-ID" sz="1600" dirty="0"/>
              <a:t>Companies lack the data, expertise, and resources needed for banks to execute climate risk and lending assessments.</a:t>
            </a:r>
          </a:p>
          <a:p>
            <a:pPr marL="342900" indent="-342900">
              <a:buFont typeface="+mj-lt"/>
              <a:buAutoNum type="arabicPeriod"/>
            </a:pPr>
            <a:r>
              <a:rPr lang="en-US" sz="1600" dirty="0">
                <a:solidFill>
                  <a:schemeClr val="tx1"/>
                </a:solidFill>
              </a:rPr>
              <a:t>The integration of climate-risk assessment also increases operational complexity, requiring banks to evaluate additional sustainability-related documentation and indicators.</a:t>
            </a:r>
          </a:p>
          <a:p>
            <a:pPr marL="342900" indent="-342900">
              <a:buFont typeface="+mj-lt"/>
              <a:buAutoNum type="arabicPeriod"/>
            </a:pPr>
            <a:r>
              <a:rPr lang="en-US" sz="1600" dirty="0">
                <a:solidFill>
                  <a:schemeClr val="tx1"/>
                </a:solidFill>
              </a:rPr>
              <a:t>Potential increases of:</a:t>
            </a:r>
          </a:p>
          <a:p>
            <a:pPr marL="857250" lvl="1" indent="-400050">
              <a:buFont typeface="+mj-lt"/>
              <a:buAutoNum type="romanLcPeriod"/>
            </a:pPr>
            <a:r>
              <a:rPr lang="en-US" sz="1600" dirty="0">
                <a:solidFill>
                  <a:schemeClr val="tx1"/>
                </a:solidFill>
              </a:rPr>
              <a:t>Human error</a:t>
            </a:r>
          </a:p>
          <a:p>
            <a:pPr marL="857250" lvl="1" indent="-400050">
              <a:buFont typeface="+mj-lt"/>
              <a:buAutoNum type="romanLcPeriod"/>
            </a:pPr>
            <a:r>
              <a:rPr lang="en-US" sz="1600" dirty="0">
                <a:solidFill>
                  <a:schemeClr val="tx1"/>
                </a:solidFill>
              </a:rPr>
              <a:t>Screening Time</a:t>
            </a:r>
          </a:p>
          <a:p>
            <a:pPr marL="857250" lvl="1" indent="-400050">
              <a:buFont typeface="+mj-lt"/>
              <a:buAutoNum type="romanLcPeriod"/>
            </a:pPr>
            <a:r>
              <a:rPr lang="en-US" sz="1600" dirty="0">
                <a:solidFill>
                  <a:schemeClr val="tx1"/>
                </a:solidFill>
              </a:rPr>
              <a:t>Operational Cost</a:t>
            </a:r>
          </a:p>
        </p:txBody>
      </p:sp>
      <p:pic>
        <p:nvPicPr>
          <p:cNvPr id="5" name="Picture 4">
            <a:extLst>
              <a:ext uri="{FF2B5EF4-FFF2-40B4-BE49-F238E27FC236}">
                <a16:creationId xmlns:a16="http://schemas.microsoft.com/office/drawing/2014/main" id="{A62A155B-31C9-3D8D-54E6-EEA3ACB24EA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100000"/>
                    </a14:imgEffect>
                  </a14:imgLayer>
                </a14:imgProps>
              </a:ext>
              <a:ext uri="{28A0092B-C50C-407E-A947-70E740481C1C}">
                <a14:useLocalDpi xmlns:a14="http://schemas.microsoft.com/office/drawing/2010/main" val="0"/>
              </a:ext>
            </a:extLst>
          </a:blip>
          <a:srcRect/>
          <a:stretch/>
        </p:blipFill>
        <p:spPr>
          <a:xfrm>
            <a:off x="980335" y="818473"/>
            <a:ext cx="597005" cy="597005"/>
          </a:xfrm>
          <a:prstGeom prst="rect">
            <a:avLst/>
          </a:prstGeom>
          <a:effectLst>
            <a:glow rad="139700">
              <a:srgbClr val="2C7AAA">
                <a:alpha val="45000"/>
              </a:srgbClr>
            </a:glow>
          </a:effectLst>
        </p:spPr>
      </p:pic>
    </p:spTree>
    <p:extLst>
      <p:ext uri="{BB962C8B-B14F-4D97-AF65-F5344CB8AC3E}">
        <p14:creationId xmlns:p14="http://schemas.microsoft.com/office/powerpoint/2010/main" val="831675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A0D7E5"/>
            </a:gs>
            <a:gs pos="29000">
              <a:srgbClr val="1E4267"/>
            </a:gs>
            <a:gs pos="15000">
              <a:srgbClr val="3976AC"/>
            </a:gs>
            <a:gs pos="53000">
              <a:srgbClr val="020D1F"/>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84FE-3704-1F09-1308-7C7B266B71EA}"/>
              </a:ext>
            </a:extLst>
          </p:cNvPr>
          <p:cNvSpPr>
            <a:spLocks noGrp="1"/>
          </p:cNvSpPr>
          <p:nvPr>
            <p:ph type="title"/>
          </p:nvPr>
        </p:nvSpPr>
        <p:spPr>
          <a:xfrm>
            <a:off x="1337359" y="-41603"/>
            <a:ext cx="3834304" cy="1083400"/>
          </a:xfrm>
        </p:spPr>
        <p:txBody>
          <a:bodyPr>
            <a:normAutofit/>
          </a:bodyPr>
          <a:lstStyle/>
          <a:p>
            <a:r>
              <a:rPr lang="en-US" sz="3200" b="1" dirty="0"/>
              <a:t>Key Findings</a:t>
            </a:r>
            <a:endParaRPr lang="en-ID" sz="3200" b="1" dirty="0"/>
          </a:p>
        </p:txBody>
      </p:sp>
      <p:sp>
        <p:nvSpPr>
          <p:cNvPr id="3" name="Content Placeholder 2">
            <a:extLst>
              <a:ext uri="{FF2B5EF4-FFF2-40B4-BE49-F238E27FC236}">
                <a16:creationId xmlns:a16="http://schemas.microsoft.com/office/drawing/2014/main" id="{40D45E78-E554-7881-37D0-4C65757E4D7B}"/>
              </a:ext>
            </a:extLst>
          </p:cNvPr>
          <p:cNvSpPr>
            <a:spLocks noGrp="1"/>
          </p:cNvSpPr>
          <p:nvPr>
            <p:ph idx="1"/>
          </p:nvPr>
        </p:nvSpPr>
        <p:spPr>
          <a:xfrm>
            <a:off x="412891" y="921324"/>
            <a:ext cx="9321596" cy="607985"/>
          </a:xfrm>
        </p:spPr>
        <p:txBody>
          <a:bodyPr>
            <a:noAutofit/>
          </a:bodyPr>
          <a:lstStyle/>
          <a:p>
            <a:pPr marL="0" indent="0">
              <a:buNone/>
            </a:pPr>
            <a:r>
              <a:rPr lang="en-US" sz="1400" dirty="0"/>
              <a:t>Borrower’s data was analyzed to identify portfolio risk and lending patterns. </a:t>
            </a:r>
          </a:p>
          <a:p>
            <a:pPr marL="0" indent="0">
              <a:buNone/>
            </a:pPr>
            <a:r>
              <a:rPr lang="en-US" sz="1400" dirty="0"/>
              <a:t>The analysis found that:</a:t>
            </a:r>
          </a:p>
        </p:txBody>
      </p:sp>
      <p:pic>
        <p:nvPicPr>
          <p:cNvPr id="7" name="Picture 6">
            <a:extLst>
              <a:ext uri="{FF2B5EF4-FFF2-40B4-BE49-F238E27FC236}">
                <a16:creationId xmlns:a16="http://schemas.microsoft.com/office/drawing/2014/main" id="{EDB4D5C7-2FC7-531C-A5D4-52F9E6ACF97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p:blipFill>
        <p:spPr>
          <a:xfrm>
            <a:off x="674627" y="245597"/>
            <a:ext cx="525804" cy="525804"/>
          </a:xfrm>
          <a:prstGeom prst="rect">
            <a:avLst/>
          </a:prstGeom>
          <a:effectLst>
            <a:glow rad="139700">
              <a:srgbClr val="2C7AAA">
                <a:alpha val="45000"/>
              </a:srgbClr>
            </a:glow>
          </a:effectLst>
        </p:spPr>
      </p:pic>
      <p:sp>
        <p:nvSpPr>
          <p:cNvPr id="6" name="TextBox 5">
            <a:extLst>
              <a:ext uri="{FF2B5EF4-FFF2-40B4-BE49-F238E27FC236}">
                <a16:creationId xmlns:a16="http://schemas.microsoft.com/office/drawing/2014/main" id="{73199A97-AC02-3E10-6DA6-4FDA758FB6B0}"/>
              </a:ext>
            </a:extLst>
          </p:cNvPr>
          <p:cNvSpPr txBox="1"/>
          <p:nvPr/>
        </p:nvSpPr>
        <p:spPr>
          <a:xfrm>
            <a:off x="977708" y="6220764"/>
            <a:ext cx="10236585" cy="288028"/>
          </a:xfrm>
          <a:prstGeom prst="rect">
            <a:avLst/>
          </a:prstGeom>
        </p:spPr>
        <p:txBody>
          <a:bodyPr vert="horz" lIns="91440" tIns="45720" rIns="91440" bIns="45720" rtlCol="0">
            <a:noAutofit/>
          </a:bodyPr>
          <a:lstStyle>
            <a:lvl1pPr indent="0" defTabSz="914400">
              <a:lnSpc>
                <a:spcPct val="90000"/>
              </a:lnSpc>
              <a:spcBef>
                <a:spcPts val="1000"/>
              </a:spcBef>
              <a:buFont typeface="Arial" panose="020B0604020202020204" pitchFamily="34" charset="0"/>
              <a:buNone/>
              <a:defRPr sz="1400"/>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en-US" sz="1600" dirty="0">
                <a:ln w="3175">
                  <a:solidFill>
                    <a:schemeClr val="tx1"/>
                  </a:solidFill>
                </a:ln>
              </a:rPr>
              <a:t>Overall, the portfolio appears relatively healthy because most borrowers are still repaying on time.</a:t>
            </a:r>
          </a:p>
        </p:txBody>
      </p:sp>
      <p:grpSp>
        <p:nvGrpSpPr>
          <p:cNvPr id="25" name="Group 24">
            <a:extLst>
              <a:ext uri="{FF2B5EF4-FFF2-40B4-BE49-F238E27FC236}">
                <a16:creationId xmlns:a16="http://schemas.microsoft.com/office/drawing/2014/main" id="{C3E985A0-BC24-D38D-5EB5-86C372B26222}"/>
              </a:ext>
            </a:extLst>
          </p:cNvPr>
          <p:cNvGrpSpPr/>
          <p:nvPr/>
        </p:nvGrpSpPr>
        <p:grpSpPr>
          <a:xfrm>
            <a:off x="397724" y="1593491"/>
            <a:ext cx="7831876" cy="4404009"/>
            <a:chOff x="1189224" y="2813286"/>
            <a:chExt cx="9491476" cy="3195005"/>
          </a:xfrm>
        </p:grpSpPr>
        <p:sp>
          <p:nvSpPr>
            <p:cNvPr id="8" name="Rectangle: Rounded Corners 7">
              <a:extLst>
                <a:ext uri="{FF2B5EF4-FFF2-40B4-BE49-F238E27FC236}">
                  <a16:creationId xmlns:a16="http://schemas.microsoft.com/office/drawing/2014/main" id="{E961C010-8F42-0DFB-57B9-401818F2211F}"/>
                </a:ext>
              </a:extLst>
            </p:cNvPr>
            <p:cNvSpPr/>
            <p:nvPr/>
          </p:nvSpPr>
          <p:spPr>
            <a:xfrm>
              <a:off x="1189224" y="2813286"/>
              <a:ext cx="9491476" cy="3195005"/>
            </a:xfrm>
            <a:prstGeom prst="roundRect">
              <a:avLst>
                <a:gd name="adj" fmla="val 6725"/>
              </a:avLst>
            </a:prstGeom>
            <a:blipFill dpi="0" rotWithShape="1">
              <a:blip r:embed="rId5">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ctr">
              <a:noAutofit/>
            </a:bodyPr>
            <a:lstStyle/>
            <a:p>
              <a:endParaRPr lang="en-US" sz="1400" dirty="0">
                <a:solidFill>
                  <a:schemeClr val="tx1"/>
                </a:solidFill>
              </a:endParaRPr>
            </a:p>
          </p:txBody>
        </p:sp>
        <p:sp>
          <p:nvSpPr>
            <p:cNvPr id="4" name="Content Placeholder 2">
              <a:extLst>
                <a:ext uri="{FF2B5EF4-FFF2-40B4-BE49-F238E27FC236}">
                  <a16:creationId xmlns:a16="http://schemas.microsoft.com/office/drawing/2014/main" id="{B44A55D8-ADB0-D713-5F34-FE59060298B8}"/>
                </a:ext>
              </a:extLst>
            </p:cNvPr>
            <p:cNvSpPr txBox="1">
              <a:spLocks/>
            </p:cNvSpPr>
            <p:nvPr/>
          </p:nvSpPr>
          <p:spPr>
            <a:xfrm>
              <a:off x="1470912" y="3241986"/>
              <a:ext cx="8697726" cy="6901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Borrowers in sectors such as mining, cement, and palm oil show higher climate-risk scores and a lower approval rate. This suggests that lending criteria should be tightened for high-risk industries.</a:t>
              </a:r>
            </a:p>
          </p:txBody>
        </p:sp>
        <p:sp>
          <p:nvSpPr>
            <p:cNvPr id="16" name="TextBox 15">
              <a:extLst>
                <a:ext uri="{FF2B5EF4-FFF2-40B4-BE49-F238E27FC236}">
                  <a16:creationId xmlns:a16="http://schemas.microsoft.com/office/drawing/2014/main" id="{F52F453F-539A-B7E8-104D-CEC94400691E}"/>
                </a:ext>
              </a:extLst>
            </p:cNvPr>
            <p:cNvSpPr txBox="1"/>
            <p:nvPr/>
          </p:nvSpPr>
          <p:spPr>
            <a:xfrm>
              <a:off x="1470911" y="4272966"/>
              <a:ext cx="9173028" cy="692182"/>
            </a:xfrm>
            <a:prstGeom prst="rect">
              <a:avLst/>
            </a:prstGeom>
            <a:noFill/>
          </p:spPr>
          <p:txBody>
            <a:bodyPr wrap="square">
              <a:spAutoFit/>
            </a:bodyPr>
            <a:lstStyle/>
            <a:p>
              <a:r>
                <a:rPr lang="en-US" sz="1400" dirty="0"/>
                <a:t>Several high-revenue borrowers still showed late or default repayment behavior, especially in carbon-intensive sectors. This suggests that revenue alone may not be sufficient to assess repayment reliability, and cash flow assessment should be strengthened.</a:t>
              </a:r>
            </a:p>
          </p:txBody>
        </p:sp>
        <p:sp>
          <p:nvSpPr>
            <p:cNvPr id="19" name="TextBox 18">
              <a:extLst>
                <a:ext uri="{FF2B5EF4-FFF2-40B4-BE49-F238E27FC236}">
                  <a16:creationId xmlns:a16="http://schemas.microsoft.com/office/drawing/2014/main" id="{AEB842A5-E612-5414-707B-DB0C88321C3D}"/>
                </a:ext>
              </a:extLst>
            </p:cNvPr>
            <p:cNvSpPr txBox="1"/>
            <p:nvPr/>
          </p:nvSpPr>
          <p:spPr>
            <a:xfrm>
              <a:off x="1470911" y="5379218"/>
              <a:ext cx="9173028" cy="535883"/>
            </a:xfrm>
            <a:prstGeom prst="rect">
              <a:avLst/>
            </a:prstGeom>
            <a:noFill/>
          </p:spPr>
          <p:txBody>
            <a:bodyPr wrap="square">
              <a:spAutoFit/>
            </a:bodyPr>
            <a:lstStyle/>
            <a:p>
              <a:r>
                <a:rPr lang="en-US" sz="1400" dirty="0"/>
                <a:t>The potential interest revenue lost from rejected applications is substantial, indicating that the bank is likely prioritizing climate-risk compliance and long-term portfolio quality over short-term revenue.</a:t>
              </a:r>
            </a:p>
          </p:txBody>
        </p:sp>
        <p:sp>
          <p:nvSpPr>
            <p:cNvPr id="20" name="Rectangle: Rounded Corners 19">
              <a:extLst>
                <a:ext uri="{FF2B5EF4-FFF2-40B4-BE49-F238E27FC236}">
                  <a16:creationId xmlns:a16="http://schemas.microsoft.com/office/drawing/2014/main" id="{79F548C8-798B-98E3-F45D-91638A3202E2}"/>
                </a:ext>
              </a:extLst>
            </p:cNvPr>
            <p:cNvSpPr/>
            <p:nvPr/>
          </p:nvSpPr>
          <p:spPr>
            <a:xfrm>
              <a:off x="1207605" y="2813286"/>
              <a:ext cx="9454715" cy="396000"/>
            </a:xfrm>
            <a:prstGeom prst="roundRect">
              <a:avLst>
                <a:gd name="adj" fmla="val 50000"/>
              </a:avLst>
            </a:prstGeom>
            <a:blipFill dpi="0" rotWithShape="1">
              <a:blip r:embed="rId5">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08000" tIns="0" rIns="0" bIns="0" rtlCol="0" anchor="ctr">
              <a:noAutofit/>
            </a:bodyPr>
            <a:lstStyle/>
            <a:p>
              <a:r>
                <a:rPr lang="en-US" sz="1400" b="1" dirty="0"/>
                <a:t>1. High-risk, high-emission industries contribute the most to late and default repayment.</a:t>
              </a:r>
              <a:endParaRPr lang="en-ID" sz="1400" dirty="0"/>
            </a:p>
          </p:txBody>
        </p:sp>
        <p:sp>
          <p:nvSpPr>
            <p:cNvPr id="23" name="Rectangle: Rounded Corners 22">
              <a:extLst>
                <a:ext uri="{FF2B5EF4-FFF2-40B4-BE49-F238E27FC236}">
                  <a16:creationId xmlns:a16="http://schemas.microsoft.com/office/drawing/2014/main" id="{6E17626E-E33E-07B4-469B-8340A84FEDEE}"/>
                </a:ext>
              </a:extLst>
            </p:cNvPr>
            <p:cNvSpPr/>
            <p:nvPr/>
          </p:nvSpPr>
          <p:spPr>
            <a:xfrm>
              <a:off x="1207605" y="3844264"/>
              <a:ext cx="9454715" cy="396000"/>
            </a:xfrm>
            <a:prstGeom prst="roundRect">
              <a:avLst>
                <a:gd name="adj" fmla="val 50000"/>
              </a:avLst>
            </a:prstGeom>
            <a:blipFill dpi="0" rotWithShape="1">
              <a:blip r:embed="rId5">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08000" tIns="0" rIns="0" bIns="0" rtlCol="0" anchor="ctr">
              <a:noAutofit/>
            </a:bodyPr>
            <a:lstStyle/>
            <a:p>
              <a:r>
                <a:rPr lang="en-US" sz="1400" b="1" dirty="0"/>
                <a:t>2. Borrowers with higher revenue are not always lower risk.</a:t>
              </a:r>
              <a:endParaRPr lang="en-ID" sz="1400" dirty="0"/>
            </a:p>
          </p:txBody>
        </p:sp>
        <p:sp>
          <p:nvSpPr>
            <p:cNvPr id="24" name="Rectangle: Rounded Corners 23">
              <a:extLst>
                <a:ext uri="{FF2B5EF4-FFF2-40B4-BE49-F238E27FC236}">
                  <a16:creationId xmlns:a16="http://schemas.microsoft.com/office/drawing/2014/main" id="{E67ACEC2-130F-3979-2C96-6D92A28B4706}"/>
                </a:ext>
              </a:extLst>
            </p:cNvPr>
            <p:cNvSpPr/>
            <p:nvPr/>
          </p:nvSpPr>
          <p:spPr>
            <a:xfrm>
              <a:off x="1207605" y="4950519"/>
              <a:ext cx="9454715" cy="396000"/>
            </a:xfrm>
            <a:prstGeom prst="roundRect">
              <a:avLst>
                <a:gd name="adj" fmla="val 50000"/>
              </a:avLst>
            </a:prstGeom>
            <a:blipFill dpi="0" rotWithShape="1">
              <a:blip r:embed="rId5">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08000" tIns="0" rIns="0" bIns="0" rtlCol="0" anchor="ctr">
              <a:noAutofit/>
            </a:bodyPr>
            <a:lstStyle/>
            <a:p>
              <a:r>
                <a:rPr lang="en-US" sz="1400" b="1" dirty="0"/>
                <a:t>3. Rejected borrowers represent a significant amount of forgone interest revenue.</a:t>
              </a:r>
              <a:endParaRPr lang="en-ID" sz="1400" dirty="0"/>
            </a:p>
          </p:txBody>
        </p:sp>
      </p:grpSp>
      <p:pic>
        <p:nvPicPr>
          <p:cNvPr id="27" name="Picture 26">
            <a:extLst>
              <a:ext uri="{FF2B5EF4-FFF2-40B4-BE49-F238E27FC236}">
                <a16:creationId xmlns:a16="http://schemas.microsoft.com/office/drawing/2014/main" id="{3FB7F6C2-0583-CA81-A9A4-B908236BB191}"/>
              </a:ext>
            </a:extLst>
          </p:cNvPr>
          <p:cNvPicPr>
            <a:picLocks noChangeAspect="1"/>
          </p:cNvPicPr>
          <p:nvPr/>
        </p:nvPicPr>
        <p:blipFill>
          <a:blip r:embed="rId6"/>
          <a:stretch>
            <a:fillRect/>
          </a:stretch>
        </p:blipFill>
        <p:spPr>
          <a:xfrm>
            <a:off x="8431701" y="735666"/>
            <a:ext cx="3526452" cy="2109098"/>
          </a:xfrm>
          <a:prstGeom prst="rect">
            <a:avLst/>
          </a:prstGeom>
        </p:spPr>
      </p:pic>
      <p:pic>
        <p:nvPicPr>
          <p:cNvPr id="29" name="Picture 28">
            <a:extLst>
              <a:ext uri="{FF2B5EF4-FFF2-40B4-BE49-F238E27FC236}">
                <a16:creationId xmlns:a16="http://schemas.microsoft.com/office/drawing/2014/main" id="{35439162-0042-9437-5E38-59CE2F568FAF}"/>
              </a:ext>
            </a:extLst>
          </p:cNvPr>
          <p:cNvPicPr>
            <a:picLocks noChangeAspect="1"/>
          </p:cNvPicPr>
          <p:nvPr/>
        </p:nvPicPr>
        <p:blipFill>
          <a:blip r:embed="rId7"/>
          <a:stretch>
            <a:fillRect/>
          </a:stretch>
        </p:blipFill>
        <p:spPr>
          <a:xfrm>
            <a:off x="8675111" y="3076072"/>
            <a:ext cx="3130748" cy="2391277"/>
          </a:xfrm>
          <a:prstGeom prst="rect">
            <a:avLst/>
          </a:prstGeom>
        </p:spPr>
      </p:pic>
      <p:sp>
        <p:nvSpPr>
          <p:cNvPr id="30" name="Content Placeholder 2">
            <a:extLst>
              <a:ext uri="{FF2B5EF4-FFF2-40B4-BE49-F238E27FC236}">
                <a16:creationId xmlns:a16="http://schemas.microsoft.com/office/drawing/2014/main" id="{C42CFBB0-EB20-13E7-F2F5-83254FBF56CB}"/>
              </a:ext>
            </a:extLst>
          </p:cNvPr>
          <p:cNvSpPr txBox="1">
            <a:spLocks/>
          </p:cNvSpPr>
          <p:nvPr/>
        </p:nvSpPr>
        <p:spPr>
          <a:xfrm>
            <a:off x="9944100" y="5524928"/>
            <a:ext cx="1850176" cy="2880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100" i="1" dirty="0"/>
              <a:t>Source: Power BI</a:t>
            </a:r>
          </a:p>
        </p:txBody>
      </p:sp>
      <p:pic>
        <p:nvPicPr>
          <p:cNvPr id="9" name="Picture 8">
            <a:extLst>
              <a:ext uri="{FF2B5EF4-FFF2-40B4-BE49-F238E27FC236}">
                <a16:creationId xmlns:a16="http://schemas.microsoft.com/office/drawing/2014/main" id="{CA881311-AAF6-CACA-A06F-BBE94C82288B}"/>
              </a:ext>
            </a:extLst>
          </p:cNvPr>
          <p:cNvPicPr>
            <a:picLocks noChangeAspect="1"/>
          </p:cNvPicPr>
          <p:nvPr/>
        </p:nvPicPr>
        <p:blipFill>
          <a:blip r:embed="rId8">
            <a:lum bright="70000" contrast="-70000"/>
          </a:blip>
          <a:stretch>
            <a:fillRect/>
          </a:stretch>
        </p:blipFill>
        <p:spPr>
          <a:xfrm>
            <a:off x="689679" y="6180081"/>
            <a:ext cx="288028" cy="288028"/>
          </a:xfrm>
          <a:prstGeom prst="rect">
            <a:avLst/>
          </a:prstGeom>
        </p:spPr>
      </p:pic>
    </p:spTree>
    <p:extLst>
      <p:ext uri="{BB962C8B-B14F-4D97-AF65-F5344CB8AC3E}">
        <p14:creationId xmlns:p14="http://schemas.microsoft.com/office/powerpoint/2010/main" val="787480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15000">
              <a:srgbClr val="020D1F"/>
            </a:gs>
            <a:gs pos="80000">
              <a:srgbClr val="020D1F"/>
            </a:gs>
            <a:gs pos="53000">
              <a:srgbClr val="1A3860"/>
            </a:gs>
            <a:gs pos="66000">
              <a:srgbClr val="10233C"/>
            </a:gs>
            <a:gs pos="45000">
              <a:srgbClr val="122641"/>
            </a:gs>
          </a:gsLst>
          <a:lin ang="2700000" scaled="1"/>
          <a:tileRect/>
        </a:gradFill>
        <a:effectLst/>
      </p:bgPr>
    </p:bg>
    <p:spTree>
      <p:nvGrpSpPr>
        <p:cNvPr id="1" name="">
          <a:extLst>
            <a:ext uri="{FF2B5EF4-FFF2-40B4-BE49-F238E27FC236}">
              <a16:creationId xmlns:a16="http://schemas.microsoft.com/office/drawing/2014/main" id="{6783F739-6794-AFC8-287E-9E1AE242B118}"/>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6274579E-948B-A78B-BE62-9682880AC08E}"/>
              </a:ext>
            </a:extLst>
          </p:cNvPr>
          <p:cNvSpPr/>
          <p:nvPr/>
        </p:nvSpPr>
        <p:spPr>
          <a:xfrm>
            <a:off x="-4400550" y="3746897"/>
            <a:ext cx="11106150" cy="8224837"/>
          </a:xfrm>
          <a:prstGeom prst="ellipse">
            <a:avLst/>
          </a:prstGeom>
          <a:gradFill flip="none" rotWithShape="1">
            <a:gsLst>
              <a:gs pos="0">
                <a:srgbClr val="A0D7E5"/>
              </a:gs>
              <a:gs pos="63000">
                <a:srgbClr val="020D1F">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itle 1">
            <a:extLst>
              <a:ext uri="{FF2B5EF4-FFF2-40B4-BE49-F238E27FC236}">
                <a16:creationId xmlns:a16="http://schemas.microsoft.com/office/drawing/2014/main" id="{1910E29F-B6A6-F531-4536-93B7451ECD90}"/>
              </a:ext>
            </a:extLst>
          </p:cNvPr>
          <p:cNvSpPr>
            <a:spLocks noGrp="1"/>
          </p:cNvSpPr>
          <p:nvPr>
            <p:ph type="title"/>
          </p:nvPr>
        </p:nvSpPr>
        <p:spPr>
          <a:xfrm>
            <a:off x="1940906" y="367862"/>
            <a:ext cx="5356766" cy="1083400"/>
          </a:xfrm>
        </p:spPr>
        <p:txBody>
          <a:bodyPr>
            <a:normAutofit/>
          </a:bodyPr>
          <a:lstStyle/>
          <a:p>
            <a:r>
              <a:rPr lang="en-US" sz="3200" b="1" dirty="0"/>
              <a:t>Proposed Solution</a:t>
            </a:r>
            <a:endParaRPr lang="en-ID" sz="3200" b="1" dirty="0"/>
          </a:p>
        </p:txBody>
      </p:sp>
      <p:pic>
        <p:nvPicPr>
          <p:cNvPr id="7" name="Picture 6">
            <a:extLst>
              <a:ext uri="{FF2B5EF4-FFF2-40B4-BE49-F238E27FC236}">
                <a16:creationId xmlns:a16="http://schemas.microsoft.com/office/drawing/2014/main" id="{B46E7847-45CC-08DD-1B98-BE21B29926A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p:blipFill>
        <p:spPr>
          <a:xfrm>
            <a:off x="956216" y="467843"/>
            <a:ext cx="742293" cy="742293"/>
          </a:xfrm>
          <a:prstGeom prst="rect">
            <a:avLst/>
          </a:prstGeom>
          <a:effectLst>
            <a:glow rad="139700">
              <a:srgbClr val="2C7AAA">
                <a:alpha val="45000"/>
              </a:srgbClr>
            </a:glow>
          </a:effectLst>
        </p:spPr>
      </p:pic>
      <p:sp>
        <p:nvSpPr>
          <p:cNvPr id="4" name="Rectangle: Rounded Corners 3">
            <a:extLst>
              <a:ext uri="{FF2B5EF4-FFF2-40B4-BE49-F238E27FC236}">
                <a16:creationId xmlns:a16="http://schemas.microsoft.com/office/drawing/2014/main" id="{6B52FD10-DA44-8824-F312-40A9DEF6DFDC}"/>
              </a:ext>
            </a:extLst>
          </p:cNvPr>
          <p:cNvSpPr/>
          <p:nvPr/>
        </p:nvSpPr>
        <p:spPr>
          <a:xfrm>
            <a:off x="956216" y="1432952"/>
            <a:ext cx="10321384" cy="5057185"/>
          </a:xfrm>
          <a:prstGeom prst="roundRect">
            <a:avLst/>
          </a:prstGeom>
          <a:blipFill dpi="0" rotWithShape="1">
            <a:blip r:embed="rId5">
              <a:alphaModFix amt="2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numCol="2" rtlCol="0" anchor="ctr">
            <a:noAutofit/>
          </a:bodyPr>
          <a:lstStyle/>
          <a:p>
            <a:r>
              <a:rPr lang="en-ID" sz="1600" b="1" dirty="0"/>
              <a:t>ESG-Integrated Lending Decision Support System</a:t>
            </a:r>
            <a:endParaRPr lang="en-ID" sz="1600" dirty="0"/>
          </a:p>
          <a:p>
            <a:endParaRPr lang="en-ID" sz="1600" b="1" dirty="0"/>
          </a:p>
          <a:p>
            <a:pPr marL="342900" indent="-342900">
              <a:buFont typeface="+mj-lt"/>
              <a:buAutoNum type="arabicPeriod"/>
            </a:pPr>
            <a:r>
              <a:rPr lang="en-ID" sz="1600" b="1" dirty="0"/>
              <a:t>Purpose</a:t>
            </a:r>
            <a:endParaRPr lang="en-ID" sz="1600" dirty="0"/>
          </a:p>
          <a:p>
            <a:pPr marL="800100" lvl="1" indent="-342900">
              <a:buFont typeface="+mj-lt"/>
              <a:buAutoNum type="arabicPeriod"/>
            </a:pPr>
            <a:r>
              <a:rPr lang="en-ID" sz="1600" dirty="0"/>
              <a:t>Automate initial borrower screening </a:t>
            </a:r>
          </a:p>
          <a:p>
            <a:pPr marL="800100" lvl="1" indent="-342900">
              <a:buFont typeface="+mj-lt"/>
              <a:buAutoNum type="arabicPeriod"/>
            </a:pPr>
            <a:r>
              <a:rPr lang="en-ID" sz="1600" dirty="0"/>
              <a:t>Support ESG-compliant lending decisions </a:t>
            </a:r>
          </a:p>
          <a:p>
            <a:pPr marL="800100" lvl="1" indent="-342900">
              <a:buFont typeface="+mj-lt"/>
              <a:buAutoNum type="arabicPeriod"/>
            </a:pPr>
            <a:r>
              <a:rPr lang="en-ID" sz="1600" dirty="0"/>
              <a:t>Reduce manual assessment effort </a:t>
            </a:r>
          </a:p>
          <a:p>
            <a:pPr marL="800100" lvl="1" indent="-342900">
              <a:buFont typeface="+mj-lt"/>
              <a:buAutoNum type="arabicPeriod"/>
            </a:pPr>
            <a:r>
              <a:rPr lang="en-ID" sz="1600" dirty="0"/>
              <a:t>Improve consistency and risk visibility </a:t>
            </a:r>
          </a:p>
          <a:p>
            <a:pPr marL="342900" indent="-342900">
              <a:buFont typeface="+mj-lt"/>
              <a:buAutoNum type="arabicPeriod"/>
            </a:pPr>
            <a:endParaRPr lang="en-ID" sz="1600" b="1" dirty="0"/>
          </a:p>
          <a:p>
            <a:pPr marL="342900" indent="-342900">
              <a:buFont typeface="+mj-lt"/>
              <a:buAutoNum type="arabicPeriod"/>
            </a:pPr>
            <a:r>
              <a:rPr lang="en-ID" sz="1600" b="1" dirty="0"/>
              <a:t>Assessment Factors</a:t>
            </a:r>
            <a:endParaRPr lang="en-ID" sz="1600" dirty="0"/>
          </a:p>
          <a:p>
            <a:pPr marL="800100" lvl="1" indent="-342900">
              <a:buFont typeface="+mj-lt"/>
              <a:buAutoNum type="arabicPeriod"/>
            </a:pPr>
            <a:r>
              <a:rPr lang="en-ID" sz="1600" dirty="0"/>
              <a:t>Climate Risk Score </a:t>
            </a:r>
          </a:p>
          <a:p>
            <a:pPr marL="800100" lvl="1" indent="-342900">
              <a:buFont typeface="+mj-lt"/>
              <a:buAutoNum type="arabicPeriod"/>
            </a:pPr>
            <a:r>
              <a:rPr lang="en-ID" sz="1600" dirty="0"/>
              <a:t>Carbon Emission Profile </a:t>
            </a:r>
          </a:p>
          <a:p>
            <a:pPr marL="800100" lvl="1" indent="-342900">
              <a:buFont typeface="+mj-lt"/>
              <a:buAutoNum type="arabicPeriod"/>
            </a:pPr>
            <a:r>
              <a:rPr lang="en-ID" sz="1600" dirty="0"/>
              <a:t>Financial Stability Indicators (Cash Flow, Liquidity, Revenue etc)</a:t>
            </a:r>
          </a:p>
          <a:p>
            <a:pPr marL="800100" lvl="1" indent="-342900">
              <a:buFont typeface="+mj-lt"/>
              <a:buAutoNum type="arabicPeriod"/>
            </a:pPr>
            <a:r>
              <a:rPr lang="en-ID" sz="1600" dirty="0"/>
              <a:t>Repayment History </a:t>
            </a:r>
          </a:p>
          <a:p>
            <a:pPr marL="800100" lvl="1" indent="-342900">
              <a:buFont typeface="+mj-lt"/>
              <a:buAutoNum type="arabicPeriod"/>
            </a:pPr>
            <a:r>
              <a:rPr lang="en-ID" sz="1600" dirty="0"/>
              <a:t>Loan Exposure </a:t>
            </a:r>
          </a:p>
          <a:p>
            <a:pPr marL="342900" indent="-342900">
              <a:buFont typeface="+mj-lt"/>
              <a:buAutoNum type="arabicPeriod"/>
            </a:pPr>
            <a:endParaRPr lang="en-ID" sz="1600" b="1" dirty="0"/>
          </a:p>
          <a:p>
            <a:pPr marL="342900" indent="-342900">
              <a:buFont typeface="+mj-lt"/>
              <a:buAutoNum type="arabicPeriod"/>
            </a:pPr>
            <a:endParaRPr lang="en-ID" sz="1600" b="1" dirty="0"/>
          </a:p>
          <a:p>
            <a:pPr marL="342900" indent="-342900">
              <a:buFont typeface="+mj-lt"/>
              <a:buAutoNum type="arabicPeriod"/>
            </a:pPr>
            <a:endParaRPr lang="en-ID" sz="1600" b="1" dirty="0"/>
          </a:p>
          <a:p>
            <a:pPr marL="342900" indent="-342900">
              <a:buFont typeface="+mj-lt"/>
              <a:buAutoNum type="arabicPeriod"/>
            </a:pPr>
            <a:r>
              <a:rPr lang="en-ID" sz="1600" b="1" dirty="0"/>
              <a:t>System Recommendation</a:t>
            </a:r>
            <a:endParaRPr lang="en-ID" sz="1600" dirty="0"/>
          </a:p>
          <a:p>
            <a:pPr marL="800100" lvl="1" indent="-342900">
              <a:buFont typeface="Arial" panose="020B0604020202020204" pitchFamily="34" charset="0"/>
              <a:buChar char="•"/>
            </a:pPr>
            <a:r>
              <a:rPr lang="en-ID" sz="1600" dirty="0"/>
              <a:t>Approve </a:t>
            </a:r>
          </a:p>
          <a:p>
            <a:pPr marL="800100" lvl="1" indent="-342900">
              <a:buFont typeface="Arial" panose="020B0604020202020204" pitchFamily="34" charset="0"/>
              <a:buChar char="•"/>
            </a:pPr>
            <a:r>
              <a:rPr lang="en-ID" sz="1600" dirty="0"/>
              <a:t>Conditional Approval </a:t>
            </a:r>
          </a:p>
          <a:p>
            <a:pPr marL="800100" lvl="1" indent="-342900">
              <a:buFont typeface="Arial" panose="020B0604020202020204" pitchFamily="34" charset="0"/>
              <a:buChar char="•"/>
            </a:pPr>
            <a:r>
              <a:rPr lang="en-ID" sz="1600" dirty="0"/>
              <a:t>Monitor </a:t>
            </a:r>
          </a:p>
          <a:p>
            <a:pPr marL="800100" lvl="1" indent="-342900">
              <a:buFont typeface="Arial" panose="020B0604020202020204" pitchFamily="34" charset="0"/>
              <a:buChar char="•"/>
            </a:pPr>
            <a:r>
              <a:rPr lang="en-ID" sz="1600" dirty="0"/>
              <a:t>Reject </a:t>
            </a:r>
          </a:p>
          <a:p>
            <a:pPr lvl="1"/>
            <a:endParaRPr lang="en-ID" sz="1600" dirty="0"/>
          </a:p>
          <a:p>
            <a:pPr marL="342900" indent="-342900">
              <a:buFont typeface="+mj-lt"/>
              <a:buAutoNum type="arabicPeriod"/>
            </a:pPr>
            <a:r>
              <a:rPr lang="en-ID" sz="1600" b="1" dirty="0"/>
              <a:t>Final Decision</a:t>
            </a:r>
            <a:endParaRPr lang="en-ID" sz="1600" dirty="0"/>
          </a:p>
          <a:p>
            <a:pPr marL="800100" lvl="1" indent="-342900">
              <a:buFont typeface="Arial" panose="020B0604020202020204" pitchFamily="34" charset="0"/>
              <a:buChar char="•"/>
            </a:pPr>
            <a:r>
              <a:rPr lang="en-ID" sz="1600" dirty="0"/>
              <a:t>Credit officer reviews recommendation and determines final lending outcome.</a:t>
            </a:r>
          </a:p>
        </p:txBody>
      </p:sp>
    </p:spTree>
    <p:extLst>
      <p:ext uri="{BB962C8B-B14F-4D97-AF65-F5344CB8AC3E}">
        <p14:creationId xmlns:p14="http://schemas.microsoft.com/office/powerpoint/2010/main" val="1588684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D1F"/>
        </a:solidFill>
        <a:effectLst/>
      </p:bgPr>
    </p:bg>
    <p:spTree>
      <p:nvGrpSpPr>
        <p:cNvPr id="1" name="">
          <a:extLst>
            <a:ext uri="{FF2B5EF4-FFF2-40B4-BE49-F238E27FC236}">
              <a16:creationId xmlns:a16="http://schemas.microsoft.com/office/drawing/2014/main" id="{0DA07B44-1E16-7ABB-AD95-89E64ED5F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24E6A-AEC2-99E4-AA78-BAAB768B0442}"/>
              </a:ext>
            </a:extLst>
          </p:cNvPr>
          <p:cNvSpPr>
            <a:spLocks noGrp="1"/>
          </p:cNvSpPr>
          <p:nvPr>
            <p:ph type="title"/>
          </p:nvPr>
        </p:nvSpPr>
        <p:spPr>
          <a:xfrm>
            <a:off x="2980011" y="-133350"/>
            <a:ext cx="6231977" cy="1083400"/>
          </a:xfrm>
        </p:spPr>
        <p:txBody>
          <a:bodyPr>
            <a:normAutofit/>
          </a:bodyPr>
          <a:lstStyle/>
          <a:p>
            <a:pPr algn="ctr"/>
            <a:r>
              <a:rPr lang="en-US" sz="3200" b="1" dirty="0"/>
              <a:t>System Interface Mockup</a:t>
            </a:r>
            <a:endParaRPr lang="en-ID" sz="3200" b="1" dirty="0"/>
          </a:p>
        </p:txBody>
      </p:sp>
      <p:pic>
        <p:nvPicPr>
          <p:cNvPr id="8" name="Content Placeholder 7">
            <a:extLst>
              <a:ext uri="{FF2B5EF4-FFF2-40B4-BE49-F238E27FC236}">
                <a16:creationId xmlns:a16="http://schemas.microsoft.com/office/drawing/2014/main" id="{AF17CBF7-7C12-0C29-5D97-14B20DA0463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62000" y="720724"/>
            <a:ext cx="10668000" cy="6000751"/>
          </a:xfrm>
          <a:prstGeom prst="rect">
            <a:avLst/>
          </a:prstGeom>
        </p:spPr>
      </p:pic>
      <p:sp>
        <p:nvSpPr>
          <p:cNvPr id="3" name="TextBox 2">
            <a:extLst>
              <a:ext uri="{FF2B5EF4-FFF2-40B4-BE49-F238E27FC236}">
                <a16:creationId xmlns:a16="http://schemas.microsoft.com/office/drawing/2014/main" id="{F4104A4C-F99E-F811-7DD2-1D672BE8E607}"/>
              </a:ext>
            </a:extLst>
          </p:cNvPr>
          <p:cNvSpPr txBox="1"/>
          <p:nvPr/>
        </p:nvSpPr>
        <p:spPr>
          <a:xfrm>
            <a:off x="9211987" y="378372"/>
            <a:ext cx="2533323" cy="246221"/>
          </a:xfrm>
          <a:prstGeom prst="rect">
            <a:avLst/>
          </a:prstGeom>
          <a:noFill/>
        </p:spPr>
        <p:txBody>
          <a:bodyPr wrap="square" rtlCol="0">
            <a:spAutoFit/>
          </a:bodyPr>
          <a:lstStyle/>
          <a:p>
            <a:r>
              <a:rPr lang="en-US" sz="1000" dirty="0"/>
              <a:t>(final design is still in progress)</a:t>
            </a:r>
            <a:endParaRPr lang="en-ID" sz="1000" dirty="0"/>
          </a:p>
        </p:txBody>
      </p:sp>
    </p:spTree>
    <p:extLst>
      <p:ext uri="{BB962C8B-B14F-4D97-AF65-F5344CB8AC3E}">
        <p14:creationId xmlns:p14="http://schemas.microsoft.com/office/powerpoint/2010/main" val="1285294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D1F"/>
        </a:solidFill>
        <a:effectLst/>
      </p:bgPr>
    </p:bg>
    <p:spTree>
      <p:nvGrpSpPr>
        <p:cNvPr id="1" name="">
          <a:extLst>
            <a:ext uri="{FF2B5EF4-FFF2-40B4-BE49-F238E27FC236}">
              <a16:creationId xmlns:a16="http://schemas.microsoft.com/office/drawing/2014/main" id="{C03B4E9F-5D73-1BF1-4AD4-A4DA5CA3240C}"/>
            </a:ext>
          </a:extLst>
        </p:cNvPr>
        <p:cNvGrpSpPr/>
        <p:nvPr/>
      </p:nvGrpSpPr>
      <p:grpSpPr>
        <a:xfrm>
          <a:off x="0" y="0"/>
          <a:ext cx="0" cy="0"/>
          <a:chOff x="0" y="0"/>
          <a:chExt cx="0" cy="0"/>
        </a:xfrm>
      </p:grpSpPr>
      <p:sp>
        <p:nvSpPr>
          <p:cNvPr id="31" name="Rectangle: Rounded Corners 30">
            <a:extLst>
              <a:ext uri="{FF2B5EF4-FFF2-40B4-BE49-F238E27FC236}">
                <a16:creationId xmlns:a16="http://schemas.microsoft.com/office/drawing/2014/main" id="{B0A48AD8-18EC-E333-D0A9-3C91626350DF}"/>
              </a:ext>
            </a:extLst>
          </p:cNvPr>
          <p:cNvSpPr/>
          <p:nvPr/>
        </p:nvSpPr>
        <p:spPr>
          <a:xfrm>
            <a:off x="1292772" y="1649186"/>
            <a:ext cx="9601200" cy="3805683"/>
          </a:xfrm>
          <a:prstGeom prst="roundRect">
            <a:avLst/>
          </a:prstGeom>
          <a:blipFill dpi="0" rotWithShape="1">
            <a:blip r:embed="rId2">
              <a:alphaModFix amt="13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ctr">
            <a:noAutofit/>
          </a:bodyPr>
          <a:lstStyle/>
          <a:p>
            <a:endParaRPr lang="en-US" sz="1600" dirty="0"/>
          </a:p>
        </p:txBody>
      </p:sp>
      <p:sp>
        <p:nvSpPr>
          <p:cNvPr id="2" name="Title 1">
            <a:extLst>
              <a:ext uri="{FF2B5EF4-FFF2-40B4-BE49-F238E27FC236}">
                <a16:creationId xmlns:a16="http://schemas.microsoft.com/office/drawing/2014/main" id="{DFE37608-F898-49F6-A8AE-331E50824642}"/>
              </a:ext>
            </a:extLst>
          </p:cNvPr>
          <p:cNvSpPr>
            <a:spLocks noGrp="1"/>
          </p:cNvSpPr>
          <p:nvPr>
            <p:ph type="title"/>
          </p:nvPr>
        </p:nvSpPr>
        <p:spPr>
          <a:xfrm>
            <a:off x="2980011" y="384540"/>
            <a:ext cx="6231977" cy="1083400"/>
          </a:xfrm>
        </p:spPr>
        <p:txBody>
          <a:bodyPr>
            <a:normAutofit/>
          </a:bodyPr>
          <a:lstStyle/>
          <a:p>
            <a:pPr algn="ctr"/>
            <a:r>
              <a:rPr lang="en-US" sz="3200" b="1" dirty="0"/>
              <a:t>Process Flow Diagram</a:t>
            </a:r>
            <a:endParaRPr lang="en-ID" sz="3200" b="1" dirty="0"/>
          </a:p>
        </p:txBody>
      </p:sp>
      <p:sp>
        <p:nvSpPr>
          <p:cNvPr id="5" name="Rectangle: Rounded Corners 4">
            <a:extLst>
              <a:ext uri="{FF2B5EF4-FFF2-40B4-BE49-F238E27FC236}">
                <a16:creationId xmlns:a16="http://schemas.microsoft.com/office/drawing/2014/main" id="{706DB3F8-D9FB-1B08-A8CA-33C4A765938B}"/>
              </a:ext>
            </a:extLst>
          </p:cNvPr>
          <p:cNvSpPr/>
          <p:nvPr/>
        </p:nvSpPr>
        <p:spPr>
          <a:xfrm>
            <a:off x="1775756" y="2543177"/>
            <a:ext cx="2148840" cy="594360"/>
          </a:xfrm>
          <a:prstGeom prst="roundRect">
            <a:avLst/>
          </a:prstGeom>
          <a:solidFill>
            <a:srgbClr val="4174A0"/>
          </a:solidFill>
          <a:ln>
            <a:solidFill>
              <a:schemeClr val="tx1"/>
            </a:solidFill>
          </a:ln>
          <a:effectLst>
            <a:glow rad="63500">
              <a:srgbClr val="B8E2F2"/>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Upload Document</a:t>
            </a:r>
            <a:endParaRPr lang="en-ID" sz="1600" dirty="0"/>
          </a:p>
        </p:txBody>
      </p:sp>
      <p:sp>
        <p:nvSpPr>
          <p:cNvPr id="6" name="Rectangle: Rounded Corners 5">
            <a:extLst>
              <a:ext uri="{FF2B5EF4-FFF2-40B4-BE49-F238E27FC236}">
                <a16:creationId xmlns:a16="http://schemas.microsoft.com/office/drawing/2014/main" id="{EF43360E-97E8-0725-EEAE-A976F2D8C35E}"/>
              </a:ext>
            </a:extLst>
          </p:cNvPr>
          <p:cNvSpPr/>
          <p:nvPr/>
        </p:nvSpPr>
        <p:spPr>
          <a:xfrm>
            <a:off x="5021580" y="2543177"/>
            <a:ext cx="2148840" cy="594360"/>
          </a:xfrm>
          <a:prstGeom prst="roundRect">
            <a:avLst/>
          </a:prstGeom>
          <a:solidFill>
            <a:srgbClr val="4174A0"/>
          </a:solidFill>
          <a:ln>
            <a:solidFill>
              <a:schemeClr val="tx1"/>
            </a:solidFill>
          </a:ln>
          <a:effectLst>
            <a:glow rad="63500">
              <a:srgbClr val="B8E2F2"/>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AI Assessment</a:t>
            </a:r>
            <a:endParaRPr lang="en-ID" sz="1600" dirty="0"/>
          </a:p>
        </p:txBody>
      </p:sp>
      <p:sp>
        <p:nvSpPr>
          <p:cNvPr id="7" name="Rectangle: Rounded Corners 6">
            <a:extLst>
              <a:ext uri="{FF2B5EF4-FFF2-40B4-BE49-F238E27FC236}">
                <a16:creationId xmlns:a16="http://schemas.microsoft.com/office/drawing/2014/main" id="{88A71A49-4433-D369-A312-C28B915F5202}"/>
              </a:ext>
            </a:extLst>
          </p:cNvPr>
          <p:cNvSpPr/>
          <p:nvPr/>
        </p:nvSpPr>
        <p:spPr>
          <a:xfrm>
            <a:off x="8267404" y="2543177"/>
            <a:ext cx="2148840" cy="594360"/>
          </a:xfrm>
          <a:prstGeom prst="roundRect">
            <a:avLst/>
          </a:prstGeom>
          <a:solidFill>
            <a:srgbClr val="4174A0"/>
          </a:solidFill>
          <a:ln>
            <a:solidFill>
              <a:schemeClr val="tx1"/>
            </a:solidFill>
          </a:ln>
          <a:effectLst>
            <a:glow rad="63500">
              <a:srgbClr val="B8E2F2"/>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Risk Categorization</a:t>
            </a:r>
            <a:endParaRPr lang="en-ID" sz="1600" dirty="0"/>
          </a:p>
        </p:txBody>
      </p:sp>
      <p:sp>
        <p:nvSpPr>
          <p:cNvPr id="9" name="Rectangle: Rounded Corners 8">
            <a:extLst>
              <a:ext uri="{FF2B5EF4-FFF2-40B4-BE49-F238E27FC236}">
                <a16:creationId xmlns:a16="http://schemas.microsoft.com/office/drawing/2014/main" id="{4BB016A2-2BDE-673D-EB22-90F965BAD479}"/>
              </a:ext>
            </a:extLst>
          </p:cNvPr>
          <p:cNvSpPr/>
          <p:nvPr/>
        </p:nvSpPr>
        <p:spPr>
          <a:xfrm>
            <a:off x="3295651" y="4140200"/>
            <a:ext cx="2148840" cy="594360"/>
          </a:xfrm>
          <a:prstGeom prst="roundRect">
            <a:avLst/>
          </a:prstGeom>
          <a:solidFill>
            <a:srgbClr val="4174A0"/>
          </a:solidFill>
          <a:ln>
            <a:solidFill>
              <a:schemeClr val="tx1"/>
            </a:solidFill>
          </a:ln>
          <a:effectLst>
            <a:glow rad="63500">
              <a:srgbClr val="B8E2F2"/>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Human Review</a:t>
            </a:r>
            <a:endParaRPr lang="en-ID" sz="1600" dirty="0"/>
          </a:p>
        </p:txBody>
      </p:sp>
      <p:sp>
        <p:nvSpPr>
          <p:cNvPr id="10" name="Rectangle: Rounded Corners 9">
            <a:extLst>
              <a:ext uri="{FF2B5EF4-FFF2-40B4-BE49-F238E27FC236}">
                <a16:creationId xmlns:a16="http://schemas.microsoft.com/office/drawing/2014/main" id="{4EDAD7C4-CAB8-0C69-9354-CA4FAAF234B4}"/>
              </a:ext>
            </a:extLst>
          </p:cNvPr>
          <p:cNvSpPr/>
          <p:nvPr/>
        </p:nvSpPr>
        <p:spPr>
          <a:xfrm>
            <a:off x="6747510" y="4140200"/>
            <a:ext cx="2148840" cy="594360"/>
          </a:xfrm>
          <a:prstGeom prst="roundRect">
            <a:avLst/>
          </a:prstGeom>
          <a:solidFill>
            <a:srgbClr val="4174A0"/>
          </a:solidFill>
          <a:ln>
            <a:solidFill>
              <a:schemeClr val="tx1"/>
            </a:solidFill>
          </a:ln>
          <a:effectLst>
            <a:glow rad="63500">
              <a:srgbClr val="B8E2F2"/>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Final Decision</a:t>
            </a:r>
            <a:endParaRPr lang="en-ID" sz="1600" dirty="0"/>
          </a:p>
        </p:txBody>
      </p:sp>
      <p:cxnSp>
        <p:nvCxnSpPr>
          <p:cNvPr id="13" name="Straight Arrow Connector 12">
            <a:extLst>
              <a:ext uri="{FF2B5EF4-FFF2-40B4-BE49-F238E27FC236}">
                <a16:creationId xmlns:a16="http://schemas.microsoft.com/office/drawing/2014/main" id="{7E67A6C4-8BC2-FD55-5186-6DFA12B44CC5}"/>
              </a:ext>
            </a:extLst>
          </p:cNvPr>
          <p:cNvCxnSpPr>
            <a:stCxn id="5" idx="3"/>
            <a:endCxn id="6" idx="1"/>
          </p:cNvCxnSpPr>
          <p:nvPr/>
        </p:nvCxnSpPr>
        <p:spPr>
          <a:xfrm>
            <a:off x="3924596" y="2840357"/>
            <a:ext cx="1096984" cy="0"/>
          </a:xfrm>
          <a:prstGeom prst="straightConnector1">
            <a:avLst/>
          </a:prstGeom>
          <a:ln w="63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0C8A39-BC02-A5B7-E6C9-CA2CFA2C8C5D}"/>
              </a:ext>
            </a:extLst>
          </p:cNvPr>
          <p:cNvCxnSpPr>
            <a:cxnSpLocks/>
            <a:stCxn id="6" idx="3"/>
            <a:endCxn id="7" idx="1"/>
          </p:cNvCxnSpPr>
          <p:nvPr/>
        </p:nvCxnSpPr>
        <p:spPr>
          <a:xfrm>
            <a:off x="7170420" y="2840357"/>
            <a:ext cx="1096984" cy="0"/>
          </a:xfrm>
          <a:prstGeom prst="straightConnector1">
            <a:avLst/>
          </a:prstGeom>
          <a:ln w="63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A051495-66DD-A405-27F2-956503D4D3B7}"/>
              </a:ext>
            </a:extLst>
          </p:cNvPr>
          <p:cNvCxnSpPr>
            <a:stCxn id="7" idx="2"/>
            <a:endCxn id="9" idx="0"/>
          </p:cNvCxnSpPr>
          <p:nvPr/>
        </p:nvCxnSpPr>
        <p:spPr>
          <a:xfrm rot="5400000">
            <a:off x="6354617" y="1152992"/>
            <a:ext cx="1002663" cy="4971753"/>
          </a:xfrm>
          <a:prstGeom prst="bentConnector3">
            <a:avLst/>
          </a:prstGeom>
          <a:ln w="63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D9B9F8B-D988-BCF2-2122-F26F97D54C89}"/>
              </a:ext>
            </a:extLst>
          </p:cNvPr>
          <p:cNvCxnSpPr>
            <a:cxnSpLocks/>
            <a:stCxn id="9" idx="3"/>
            <a:endCxn id="10" idx="1"/>
          </p:cNvCxnSpPr>
          <p:nvPr/>
        </p:nvCxnSpPr>
        <p:spPr>
          <a:xfrm>
            <a:off x="5444491" y="4437380"/>
            <a:ext cx="1303019" cy="0"/>
          </a:xfrm>
          <a:prstGeom prst="straightConnector1">
            <a:avLst/>
          </a:prstGeom>
          <a:ln w="63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5784DB6E-1A7C-F1D6-A3BB-C0CC333CDAE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p:blipFill>
        <p:spPr>
          <a:xfrm>
            <a:off x="2608864" y="555093"/>
            <a:ext cx="742293" cy="742293"/>
          </a:xfrm>
          <a:prstGeom prst="rect">
            <a:avLst/>
          </a:prstGeom>
          <a:effectLst>
            <a:glow rad="139700">
              <a:srgbClr val="2C7AAA">
                <a:alpha val="45000"/>
              </a:srgbClr>
            </a:glow>
          </a:effectLst>
        </p:spPr>
      </p:pic>
    </p:spTree>
    <p:extLst>
      <p:ext uri="{BB962C8B-B14F-4D97-AF65-F5344CB8AC3E}">
        <p14:creationId xmlns:p14="http://schemas.microsoft.com/office/powerpoint/2010/main" val="3817481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D1F"/>
        </a:solidFill>
        <a:effectLst/>
      </p:bgPr>
    </p:bg>
    <p:spTree>
      <p:nvGrpSpPr>
        <p:cNvPr id="1" name="">
          <a:extLst>
            <a:ext uri="{FF2B5EF4-FFF2-40B4-BE49-F238E27FC236}">
              <a16:creationId xmlns:a16="http://schemas.microsoft.com/office/drawing/2014/main" id="{77914BA4-5EF3-DF76-A015-35CBA4C0081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57F3E02-DECA-F299-5FF7-A91AC825FDA5}"/>
              </a:ext>
            </a:extLst>
          </p:cNvPr>
          <p:cNvSpPr/>
          <p:nvPr/>
        </p:nvSpPr>
        <p:spPr>
          <a:xfrm>
            <a:off x="2971801" y="1962150"/>
            <a:ext cx="6972300" cy="1676399"/>
          </a:xfrm>
          <a:prstGeom prst="roundRect">
            <a:avLst/>
          </a:prstGeom>
          <a:gradFill flip="none" rotWithShape="1">
            <a:gsLst>
              <a:gs pos="8000">
                <a:srgbClr val="9BDBF1"/>
              </a:gs>
              <a:gs pos="86000">
                <a:srgbClr val="020D1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itle 1">
            <a:extLst>
              <a:ext uri="{FF2B5EF4-FFF2-40B4-BE49-F238E27FC236}">
                <a16:creationId xmlns:a16="http://schemas.microsoft.com/office/drawing/2014/main" id="{C21A5F7D-ADF9-3346-E104-5FB02DCD9C3D}"/>
              </a:ext>
            </a:extLst>
          </p:cNvPr>
          <p:cNvSpPr>
            <a:spLocks noGrp="1"/>
          </p:cNvSpPr>
          <p:nvPr>
            <p:ph type="title"/>
          </p:nvPr>
        </p:nvSpPr>
        <p:spPr>
          <a:xfrm>
            <a:off x="3521622" y="2345600"/>
            <a:ext cx="5584277" cy="1083400"/>
          </a:xfrm>
        </p:spPr>
        <p:txBody>
          <a:bodyPr>
            <a:noAutofit/>
          </a:bodyPr>
          <a:lstStyle/>
          <a:p>
            <a:pPr algn="ctr"/>
            <a:r>
              <a:rPr lang="en-US" sz="7200" b="1" dirty="0"/>
              <a:t>THANK YOU</a:t>
            </a:r>
            <a:endParaRPr lang="en-ID" sz="7200" b="1" dirty="0"/>
          </a:p>
        </p:txBody>
      </p:sp>
      <p:sp>
        <p:nvSpPr>
          <p:cNvPr id="3" name="Content Placeholder 2">
            <a:extLst>
              <a:ext uri="{FF2B5EF4-FFF2-40B4-BE49-F238E27FC236}">
                <a16:creationId xmlns:a16="http://schemas.microsoft.com/office/drawing/2014/main" id="{CF0B34DA-E731-20C3-2235-A5379098D7E0}"/>
              </a:ext>
            </a:extLst>
          </p:cNvPr>
          <p:cNvSpPr>
            <a:spLocks noGrp="1"/>
          </p:cNvSpPr>
          <p:nvPr>
            <p:ph idx="1"/>
          </p:nvPr>
        </p:nvSpPr>
        <p:spPr>
          <a:xfrm>
            <a:off x="576375" y="5444472"/>
            <a:ext cx="6739638" cy="1204885"/>
          </a:xfrm>
        </p:spPr>
        <p:txBody>
          <a:bodyPr>
            <a:normAutofit/>
          </a:bodyPr>
          <a:lstStyle/>
          <a:p>
            <a:pPr marL="0" indent="0">
              <a:buNone/>
            </a:pPr>
            <a:r>
              <a:rPr lang="en-US" sz="1400" dirty="0"/>
              <a:t>Email: adhianaeviantyy@gmail.com</a:t>
            </a:r>
          </a:p>
          <a:p>
            <a:pPr marL="0" indent="0">
              <a:buNone/>
            </a:pPr>
            <a:r>
              <a:rPr lang="en-US" sz="1400" dirty="0" err="1"/>
              <a:t>Linkedin</a:t>
            </a:r>
            <a:r>
              <a:rPr lang="en-US" sz="1400" dirty="0"/>
              <a:t>: </a:t>
            </a:r>
            <a:r>
              <a:rPr lang="en-US" sz="1400" dirty="0" err="1"/>
              <a:t>Adhiana</a:t>
            </a:r>
            <a:r>
              <a:rPr lang="en-US" sz="1400" dirty="0"/>
              <a:t> </a:t>
            </a:r>
            <a:r>
              <a:rPr lang="en-US" sz="1400" dirty="0" err="1"/>
              <a:t>Elti</a:t>
            </a:r>
            <a:r>
              <a:rPr lang="en-US" sz="1400" dirty="0"/>
              <a:t> </a:t>
            </a:r>
            <a:r>
              <a:rPr lang="en-US" sz="1400" dirty="0" err="1"/>
              <a:t>Evianty</a:t>
            </a:r>
            <a:endParaRPr lang="en-US" sz="1400" dirty="0"/>
          </a:p>
          <a:p>
            <a:pPr marL="0" indent="0">
              <a:buNone/>
            </a:pPr>
            <a:r>
              <a:rPr lang="en-US" sz="1400" dirty="0" err="1"/>
              <a:t>Github</a:t>
            </a:r>
            <a:r>
              <a:rPr lang="en-US" sz="1400" dirty="0"/>
              <a:t>: </a:t>
            </a:r>
            <a:endParaRPr lang="en-ID" sz="1400" dirty="0"/>
          </a:p>
        </p:txBody>
      </p:sp>
      <p:sp>
        <p:nvSpPr>
          <p:cNvPr id="5" name="Oval 4">
            <a:extLst>
              <a:ext uri="{FF2B5EF4-FFF2-40B4-BE49-F238E27FC236}">
                <a16:creationId xmlns:a16="http://schemas.microsoft.com/office/drawing/2014/main" id="{A97A6E50-9311-F807-1C85-345A7A1C5D95}"/>
              </a:ext>
            </a:extLst>
          </p:cNvPr>
          <p:cNvSpPr/>
          <p:nvPr/>
        </p:nvSpPr>
        <p:spPr>
          <a:xfrm>
            <a:off x="-5772150" y="-3244453"/>
            <a:ext cx="11106150" cy="8224837"/>
          </a:xfrm>
          <a:prstGeom prst="ellipse">
            <a:avLst/>
          </a:prstGeom>
          <a:gradFill flip="none" rotWithShape="1">
            <a:gsLst>
              <a:gs pos="0">
                <a:srgbClr val="A0D7E5"/>
              </a:gs>
              <a:gs pos="63000">
                <a:srgbClr val="020D1F">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6" name="Oval 5">
            <a:extLst>
              <a:ext uri="{FF2B5EF4-FFF2-40B4-BE49-F238E27FC236}">
                <a16:creationId xmlns:a16="http://schemas.microsoft.com/office/drawing/2014/main" id="{9EB8EBFB-8F72-2256-8156-A495CB9A48F3}"/>
              </a:ext>
            </a:extLst>
          </p:cNvPr>
          <p:cNvSpPr/>
          <p:nvPr/>
        </p:nvSpPr>
        <p:spPr>
          <a:xfrm>
            <a:off x="4810127" y="2887300"/>
            <a:ext cx="11106150" cy="8224837"/>
          </a:xfrm>
          <a:prstGeom prst="ellipse">
            <a:avLst/>
          </a:prstGeom>
          <a:gradFill flip="none" rotWithShape="1">
            <a:gsLst>
              <a:gs pos="0">
                <a:srgbClr val="A0D7E5"/>
              </a:gs>
              <a:gs pos="63000">
                <a:srgbClr val="020D1F">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Tree>
    <p:extLst>
      <p:ext uri="{BB962C8B-B14F-4D97-AF65-F5344CB8AC3E}">
        <p14:creationId xmlns:p14="http://schemas.microsoft.com/office/powerpoint/2010/main" val="3892527560"/>
      </p:ext>
    </p:extLst>
  </p:cSld>
  <p:clrMapOvr>
    <a:masterClrMapping/>
  </p:clrMapOvr>
</p:sld>
</file>

<file path=ppt/theme/theme1.xml><?xml version="1.0" encoding="utf-8"?>
<a:theme xmlns:a="http://schemas.openxmlformats.org/drawingml/2006/main" name="navystrikelight">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vystrikelight" id="{470C2346-E7AF-4C38-B9E9-558F18EAE2D9}" vid="{BD4328ED-2B14-492E-8B8D-ACEFFDB3C5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navystrikelight</Template>
  <TotalTime>5275</TotalTime>
  <Words>565</Words>
  <Application>Microsoft Office PowerPoint</Application>
  <PresentationFormat>Widescreen</PresentationFormat>
  <Paragraphs>78</Paragraphs>
  <Slides>9</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Avenir Next LT Pro Light</vt:lpstr>
      <vt:lpstr>Calibri</vt:lpstr>
      <vt:lpstr>Grandview Display</vt:lpstr>
      <vt:lpstr>Poppins</vt:lpstr>
      <vt:lpstr>navystrikelight</vt:lpstr>
      <vt:lpstr>Borrower’s Climate Risk Trend Analysis</vt:lpstr>
      <vt:lpstr>Background</vt:lpstr>
      <vt:lpstr>Business Impact</vt:lpstr>
      <vt:lpstr>Current Challenges</vt:lpstr>
      <vt:lpstr>Key Findings</vt:lpstr>
      <vt:lpstr>Proposed Solution</vt:lpstr>
      <vt:lpstr>System Interface Mockup</vt:lpstr>
      <vt:lpstr>Process Flow Diagram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Aevianty Via</dc:creator>
  <cp:lastModifiedBy>Aevianty Via</cp:lastModifiedBy>
  <cp:revision>2</cp:revision>
  <dcterms:created xsi:type="dcterms:W3CDTF">2026-05-27T07:03:17Z</dcterms:created>
  <dcterms:modified xsi:type="dcterms:W3CDTF">2026-06-05T05:24:53Z</dcterms:modified>
</cp:coreProperties>
</file>